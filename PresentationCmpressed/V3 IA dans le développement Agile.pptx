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25"/>
  </p:notesMasterIdLst>
  <p:sldIdLst>
    <p:sldId id="256" r:id="rId2"/>
    <p:sldId id="260" r:id="rId3"/>
    <p:sldId id="257" r:id="rId4"/>
    <p:sldId id="261" r:id="rId5"/>
    <p:sldId id="262" r:id="rId6"/>
    <p:sldId id="276" r:id="rId7"/>
    <p:sldId id="278" r:id="rId8"/>
    <p:sldId id="264" r:id="rId9"/>
    <p:sldId id="279" r:id="rId10"/>
    <p:sldId id="280" r:id="rId11"/>
    <p:sldId id="266" r:id="rId12"/>
    <p:sldId id="265" r:id="rId13"/>
    <p:sldId id="268" r:id="rId14"/>
    <p:sldId id="267" r:id="rId15"/>
    <p:sldId id="282" r:id="rId16"/>
    <p:sldId id="270" r:id="rId17"/>
    <p:sldId id="285" r:id="rId18"/>
    <p:sldId id="271" r:id="rId19"/>
    <p:sldId id="286" r:id="rId20"/>
    <p:sldId id="273" r:id="rId21"/>
    <p:sldId id="284" r:id="rId22"/>
    <p:sldId id="283" r:id="rId23"/>
    <p:sldId id="275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3B01"/>
    <a:srgbClr val="E7E5D9"/>
    <a:srgbClr val="00D6AB"/>
    <a:srgbClr val="F6DFBC"/>
    <a:srgbClr val="F2D1A0"/>
    <a:srgbClr val="81422B"/>
    <a:srgbClr val="74AA9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C10B4-F9C7-42BB-9CA8-E5DBE6D00BA7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D18A1-EEBB-4063-BD2A-A0879208CB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06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 TOUCHE UN ENFER A MODIFIER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18A1-EEBB-4063-BD2A-A0879208CB3F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02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28A2-20C1-4118-9689-4A1627626A6A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4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1900-A3EA-4609-AE50-41ACE4F36530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4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97720-6A9C-4A08-9187-A6FB2D1940C2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6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4D5E6-4977-4C67-A5B6-BA02DA88B36B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3BC0-CAB0-4880-B6B5-70C0E65734C3}" type="datetime1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806-6028-4C22-8437-B7495626A3E7}" type="datetime1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5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6FD5-57A9-47B3-B265-A2F60D58433F}" type="datetime1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0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56BC-898A-43B3-A026-82BC0BFDD464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3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455-455C-4157-AD1A-988B246FC111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6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149E-0EA7-493B-8685-F3FA62372673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9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BFC9-0D89-44A3-B06F-0F88322A158E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7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4EC21-FA7B-4493-9DB0-6FBE56272818}" type="datetime1">
              <a:rPr lang="en-US" smtClean="0"/>
              <a:t>3/25/2025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9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7" Type="http://schemas.openxmlformats.org/officeDocument/2006/relationships/image" Target="../media/image3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D8A8D11-DB51-43C0-8618-65C820DB4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F1EF1-07A5-5188-D914-9F91DF8F1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5626101"/>
            <a:ext cx="4229100" cy="1231900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rgbClr val="D63B01"/>
                </a:solidFill>
              </a:rPr>
              <a:t>Fannie RUIZ , Sonia KECHAOU , Rim LEMRABOTT , Léo QUENETTE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841ED32-2F8A-7813-64E6-E680D93A663D}"/>
              </a:ext>
            </a:extLst>
          </p:cNvPr>
          <p:cNvGrpSpPr/>
          <p:nvPr/>
        </p:nvGrpSpPr>
        <p:grpSpPr>
          <a:xfrm>
            <a:off x="6654800" y="-13289"/>
            <a:ext cx="5537200" cy="6871289"/>
            <a:chOff x="6654800" y="-13289"/>
            <a:chExt cx="5537200" cy="687128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050573F-77BE-7347-5DC4-D482A1BCB67C}"/>
                </a:ext>
              </a:extLst>
            </p:cNvPr>
            <p:cNvSpPr/>
            <p:nvPr/>
          </p:nvSpPr>
          <p:spPr>
            <a:xfrm>
              <a:off x="6654800" y="-13289"/>
              <a:ext cx="5537200" cy="68712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7436B83-5479-5849-9F43-AF27012DA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45"/>
            <a:stretch/>
          </p:blipFill>
          <p:spPr>
            <a:xfrm>
              <a:off x="7447456" y="596644"/>
              <a:ext cx="3951888" cy="5664712"/>
            </a:xfrm>
            <a:prstGeom prst="rect">
              <a:avLst/>
            </a:prstGeom>
          </p:spPr>
        </p:pic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40319C-2F4E-512E-E98B-A4ECFDD9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bg1"/>
                </a:solidFill>
              </a:rPr>
              <a:t>1</a:t>
            </a:fld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B7FDA04-3625-F26E-A49F-FF8A1F1E5380}"/>
              </a:ext>
            </a:extLst>
          </p:cNvPr>
          <p:cNvSpPr txBox="1">
            <a:spLocks/>
          </p:cNvSpPr>
          <p:nvPr/>
        </p:nvSpPr>
        <p:spPr>
          <a:xfrm>
            <a:off x="463009" y="596644"/>
            <a:ext cx="5940422" cy="2613281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4000" dirty="0">
                <a:solidFill>
                  <a:srgbClr val="D63B01"/>
                </a:solidFill>
              </a:rPr>
              <a:t>L’utilisation de </a:t>
            </a:r>
            <a:r>
              <a:rPr lang="fr-FR" sz="4000" dirty="0" err="1">
                <a:solidFill>
                  <a:srgbClr val="D63B01"/>
                </a:solidFill>
              </a:rPr>
              <a:t>ChatGPT</a:t>
            </a:r>
            <a:r>
              <a:rPr lang="fr-FR" sz="4000" dirty="0">
                <a:solidFill>
                  <a:srgbClr val="D63B01"/>
                </a:solidFill>
              </a:rPr>
              <a:t> pour soutenir le développement agile de logiciels.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6908541-E282-4E0D-07CA-188F9C654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554835" y="903677"/>
            <a:ext cx="3241072" cy="1067433"/>
          </a:xfrm>
          <a:noFill/>
        </p:spPr>
        <p:txBody>
          <a:bodyPr anchor="t">
            <a:normAutofit fontScale="90000"/>
          </a:bodyPr>
          <a:lstStyle/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Résumé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2774A0-73A0-330B-E322-B0168DF77A0C}"/>
              </a:ext>
            </a:extLst>
          </p:cNvPr>
          <p:cNvSpPr txBox="1"/>
          <p:nvPr/>
        </p:nvSpPr>
        <p:spPr>
          <a:xfrm>
            <a:off x="-3323663" y="1971110"/>
            <a:ext cx="48260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Auteurs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Sujet de l’article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La Méthode Agile 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Opinion publique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Tests des capacités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0AA2F9-2F89-A4C4-4D81-6C2EBA08BB37}"/>
              </a:ext>
            </a:extLst>
          </p:cNvPr>
          <p:cNvSpPr txBox="1"/>
          <p:nvPr/>
        </p:nvSpPr>
        <p:spPr>
          <a:xfrm>
            <a:off x="-522277" y="1903284"/>
            <a:ext cx="5969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3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6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7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9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13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4351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EC631-BF81-1CE6-CE59-E71A36E8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A0C8A26-8C35-FCE8-411C-ABBDAE7C6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FB74B19A-D5C1-9ACD-8650-998BBB5C9FED}"/>
              </a:ext>
            </a:extLst>
          </p:cNvPr>
          <p:cNvGrpSpPr/>
          <p:nvPr/>
        </p:nvGrpSpPr>
        <p:grpSpPr>
          <a:xfrm>
            <a:off x="6654800" y="0"/>
            <a:ext cx="5537200" cy="6871289"/>
            <a:chOff x="6654800" y="-13289"/>
            <a:chExt cx="5537200" cy="6871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7E7511-384C-B75D-7224-462223F374B3}"/>
                </a:ext>
              </a:extLst>
            </p:cNvPr>
            <p:cNvSpPr/>
            <p:nvPr/>
          </p:nvSpPr>
          <p:spPr>
            <a:xfrm>
              <a:off x="6654800" y="-13289"/>
              <a:ext cx="5537200" cy="68712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003D5EAD-B7BA-2FED-BCC1-5491350FC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45"/>
            <a:stretch/>
          </p:blipFill>
          <p:spPr>
            <a:xfrm>
              <a:off x="7447456" y="596644"/>
              <a:ext cx="3951888" cy="5664712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5E57D7B-DF4C-5B0F-9BBD-012F78168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28" y="901067"/>
            <a:ext cx="3241072" cy="1067433"/>
          </a:xfrm>
          <a:noFill/>
        </p:spPr>
        <p:txBody>
          <a:bodyPr anchor="t">
            <a:normAutofit fontScale="90000"/>
          </a:bodyPr>
          <a:lstStyle/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Résumé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6230A2-0189-B9A0-0AF7-1CDF14FD0FEF}"/>
              </a:ext>
            </a:extLst>
          </p:cNvPr>
          <p:cNvSpPr txBox="1"/>
          <p:nvPr/>
        </p:nvSpPr>
        <p:spPr>
          <a:xfrm>
            <a:off x="838200" y="1968500"/>
            <a:ext cx="48260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Auteurs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Objectifs de l’article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La Méthode Agile 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Opinion publique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Tests des capacités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51959BF-4D0F-5672-F125-58627D4BF68A}"/>
              </a:ext>
            </a:extLst>
          </p:cNvPr>
          <p:cNvSpPr txBox="1"/>
          <p:nvPr/>
        </p:nvSpPr>
        <p:spPr>
          <a:xfrm>
            <a:off x="4254500" y="1968500"/>
            <a:ext cx="596900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solidFill>
                  <a:schemeClr val="tx2"/>
                </a:solidFill>
              </a:rPr>
              <a:t>3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6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7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9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13</a:t>
            </a:r>
            <a:br>
              <a:rPr lang="fr-FR" sz="2400" dirty="0">
                <a:solidFill>
                  <a:schemeClr val="tx2"/>
                </a:solidFill>
              </a:rPr>
            </a:br>
            <a:r>
              <a:rPr lang="fr-FR" sz="2400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F89FD6FD-CEB2-49FB-A641-7CE39897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D3060201-1C40-4B39-813D-5CD9493BAEED}" type="slidenum">
              <a:rPr lang="en-US" sz="1500" smtClean="0">
                <a:solidFill>
                  <a:schemeClr val="bg1"/>
                </a:solidFill>
              </a:rPr>
              <a:pPr/>
              <a:t>2</a:t>
            </a:fld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FC55C9F-221B-AD1B-3C6F-E336D9CE165D}"/>
              </a:ext>
            </a:extLst>
          </p:cNvPr>
          <p:cNvSpPr txBox="1">
            <a:spLocks/>
          </p:cNvSpPr>
          <p:nvPr/>
        </p:nvSpPr>
        <p:spPr>
          <a:xfrm>
            <a:off x="607028" y="-2696464"/>
            <a:ext cx="5940422" cy="2613281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4000" dirty="0">
                <a:solidFill>
                  <a:srgbClr val="D63B01"/>
                </a:solidFill>
              </a:rPr>
              <a:t>L’utilisation de </a:t>
            </a:r>
            <a:r>
              <a:rPr lang="fr-FR" sz="4000" dirty="0" err="1">
                <a:solidFill>
                  <a:srgbClr val="D63B01"/>
                </a:solidFill>
              </a:rPr>
              <a:t>ChatGPT</a:t>
            </a:r>
            <a:r>
              <a:rPr lang="fr-FR" sz="4000" dirty="0">
                <a:solidFill>
                  <a:srgbClr val="D63B01"/>
                </a:solidFill>
              </a:rPr>
              <a:t> pour supporter le développement agile de logiciels.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0545DA78-A808-FD24-3A40-00B28EA7418E}"/>
              </a:ext>
            </a:extLst>
          </p:cNvPr>
          <p:cNvGrpSpPr/>
          <p:nvPr/>
        </p:nvGrpSpPr>
        <p:grpSpPr>
          <a:xfrm>
            <a:off x="-8360005" y="2401657"/>
            <a:ext cx="7864705" cy="3600000"/>
            <a:chOff x="745895" y="1788253"/>
            <a:chExt cx="9749153" cy="4576138"/>
          </a:xfrm>
        </p:grpSpPr>
        <p:pic>
          <p:nvPicPr>
            <p:cNvPr id="35" name="Image 34" descr="Une image contenant personne, Visage humain, habits, cravate&#10;&#10;Description générée automatiquement">
              <a:extLst>
                <a:ext uri="{FF2B5EF4-FFF2-40B4-BE49-F238E27FC236}">
                  <a16:creationId xmlns:a16="http://schemas.microsoft.com/office/drawing/2014/main" id="{7ED5CFB8-DEB4-5971-919E-B43DC43C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895" y="1788253"/>
              <a:ext cx="2652912" cy="4547847"/>
            </a:xfrm>
            <a:prstGeom prst="rect">
              <a:avLst/>
            </a:prstGeom>
          </p:spPr>
        </p:pic>
        <p:pic>
          <p:nvPicPr>
            <p:cNvPr id="36" name="Image 35" descr="Une image contenant personne, Visage humain, cravate, habits&#10;&#10;Description générée automatiquement">
              <a:extLst>
                <a:ext uri="{FF2B5EF4-FFF2-40B4-BE49-F238E27FC236}">
                  <a16:creationId xmlns:a16="http://schemas.microsoft.com/office/drawing/2014/main" id="{127C2D6F-2A65-F875-6036-BB0F2C684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3315" y="1817591"/>
              <a:ext cx="3182760" cy="4546800"/>
            </a:xfrm>
            <a:prstGeom prst="rect">
              <a:avLst/>
            </a:prstGeom>
          </p:spPr>
        </p:pic>
        <p:pic>
          <p:nvPicPr>
            <p:cNvPr id="37" name="Image 36" descr="Une image contenant Barbe humaine, plein air, barbe, herbe&#10;&#10;Description générée automatiquement">
              <a:extLst>
                <a:ext uri="{FF2B5EF4-FFF2-40B4-BE49-F238E27FC236}">
                  <a16:creationId xmlns:a16="http://schemas.microsoft.com/office/drawing/2014/main" id="{A9BCA40B-7A75-D59E-0D20-F3CB5A0D0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948" y="1801221"/>
              <a:ext cx="3410100" cy="4546800"/>
            </a:xfrm>
            <a:prstGeom prst="rect">
              <a:avLst/>
            </a:prstGeom>
          </p:spPr>
        </p:pic>
      </p:grpSp>
      <p:pic>
        <p:nvPicPr>
          <p:cNvPr id="38" name="Image 37" descr="Une image contenant Graphique, capture d’écran, Police, graphisme&#10;&#10;Description générée automatiquement">
            <a:extLst>
              <a:ext uri="{FF2B5EF4-FFF2-40B4-BE49-F238E27FC236}">
                <a16:creationId xmlns:a16="http://schemas.microsoft.com/office/drawing/2014/main" id="{601FAC77-5875-E1C4-B7CC-14AEAFC171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854" y="10150302"/>
            <a:ext cx="4335573" cy="1005989"/>
          </a:xfrm>
          <a:prstGeom prst="rect">
            <a:avLst/>
          </a:prstGeom>
        </p:spPr>
      </p:pic>
      <p:pic>
        <p:nvPicPr>
          <p:cNvPr id="39" name="Image 38" descr="Une image contenant Police, Graphique, capture d’écran, texte&#10;&#10;Description générée automatiquement">
            <a:extLst>
              <a:ext uri="{FF2B5EF4-FFF2-40B4-BE49-F238E27FC236}">
                <a16:creationId xmlns:a16="http://schemas.microsoft.com/office/drawing/2014/main" id="{771A338A-8F09-5B64-5DD3-BDA8FC97C9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487" y="10653296"/>
            <a:ext cx="3119085" cy="2495269"/>
          </a:xfrm>
          <a:prstGeom prst="rect">
            <a:avLst/>
          </a:prstGeom>
        </p:spPr>
      </p:pic>
      <p:pic>
        <p:nvPicPr>
          <p:cNvPr id="40" name="Image 39" descr="Une image contenant texte, logo, symbole, Police&#10;&#10;Description générée automatiquement">
            <a:extLst>
              <a:ext uri="{FF2B5EF4-FFF2-40B4-BE49-F238E27FC236}">
                <a16:creationId xmlns:a16="http://schemas.microsoft.com/office/drawing/2014/main" id="{DC51C9B4-D396-75AE-0A0D-6A45B1CBB8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86"/>
          <a:stretch/>
        </p:blipFill>
        <p:spPr>
          <a:xfrm>
            <a:off x="8896659" y="8223506"/>
            <a:ext cx="2590916" cy="22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51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E1BEE-AEB3-84E5-5ABA-A03245F3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9696E36-8FA3-555F-864E-40262BF9E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950829-9DF5-6BBD-F3A4-3D4D609F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7" t="11853" r="45840" b="85406"/>
          <a:stretch/>
        </p:blipFill>
        <p:spPr>
          <a:xfrm>
            <a:off x="6096000" y="336429"/>
            <a:ext cx="5905237" cy="526211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EC964E7C-C6FB-2121-47F0-47C8031A5E6A}"/>
              </a:ext>
            </a:extLst>
          </p:cNvPr>
          <p:cNvSpPr txBox="1">
            <a:spLocks/>
          </p:cNvSpPr>
          <p:nvPr/>
        </p:nvSpPr>
        <p:spPr>
          <a:xfrm>
            <a:off x="451815" y="263764"/>
            <a:ext cx="32410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Auteurs</a:t>
            </a:r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EE70DB9C-9D28-B3BC-8DA2-F7CDA015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pPr/>
              <a:t>3</a:t>
            </a:fld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C934EF8-0B4D-72E7-951E-EF0C51AEC920}"/>
              </a:ext>
            </a:extLst>
          </p:cNvPr>
          <p:cNvGrpSpPr/>
          <p:nvPr/>
        </p:nvGrpSpPr>
        <p:grpSpPr>
          <a:xfrm>
            <a:off x="12206345" y="-13289"/>
            <a:ext cx="5537200" cy="6871289"/>
            <a:chOff x="6654800" y="-13289"/>
            <a:chExt cx="5537200" cy="68712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DFFD2F-852E-FBD3-60A8-4B63371B7BB4}"/>
                </a:ext>
              </a:extLst>
            </p:cNvPr>
            <p:cNvSpPr/>
            <p:nvPr/>
          </p:nvSpPr>
          <p:spPr>
            <a:xfrm>
              <a:off x="6654800" y="-13289"/>
              <a:ext cx="5537200" cy="68712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9823B34F-A158-2211-7DCA-CABB9E04F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45"/>
            <a:stretch/>
          </p:blipFill>
          <p:spPr>
            <a:xfrm>
              <a:off x="7447456" y="596644"/>
              <a:ext cx="3951888" cy="5664712"/>
            </a:xfrm>
            <a:prstGeom prst="rect">
              <a:avLst/>
            </a:prstGeom>
          </p:spPr>
        </p:pic>
      </p:grpSp>
      <p:pic>
        <p:nvPicPr>
          <p:cNvPr id="28" name="Image 27" descr="Une image contenant Graphique, capture d’écran, Police, graphisme&#10;&#10;Description générée automatiquement">
            <a:extLst>
              <a:ext uri="{FF2B5EF4-FFF2-40B4-BE49-F238E27FC236}">
                <a16:creationId xmlns:a16="http://schemas.microsoft.com/office/drawing/2014/main" id="{680049FE-A552-3C41-5AAD-E4CF01E59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624" y="3647902"/>
            <a:ext cx="4335573" cy="1005989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3BBDB7AC-99CC-EBE1-C452-31196DF84E6C}"/>
              </a:ext>
            </a:extLst>
          </p:cNvPr>
          <p:cNvGrpSpPr/>
          <p:nvPr/>
        </p:nvGrpSpPr>
        <p:grpSpPr>
          <a:xfrm>
            <a:off x="402115" y="1721106"/>
            <a:ext cx="7864705" cy="3600000"/>
            <a:chOff x="745895" y="1788253"/>
            <a:chExt cx="9749153" cy="4576138"/>
          </a:xfrm>
        </p:grpSpPr>
        <p:pic>
          <p:nvPicPr>
            <p:cNvPr id="10" name="Image 9" descr="Une image contenant personne, Visage humain, habits, cravate&#10;&#10;Description générée automatiquement">
              <a:extLst>
                <a:ext uri="{FF2B5EF4-FFF2-40B4-BE49-F238E27FC236}">
                  <a16:creationId xmlns:a16="http://schemas.microsoft.com/office/drawing/2014/main" id="{61F11B31-3B90-DD46-B1A8-85E78830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895" y="1788253"/>
              <a:ext cx="2652912" cy="4547847"/>
            </a:xfrm>
            <a:prstGeom prst="rect">
              <a:avLst/>
            </a:prstGeom>
          </p:spPr>
        </p:pic>
        <p:pic>
          <p:nvPicPr>
            <p:cNvPr id="19" name="Image 18" descr="Une image contenant personne, Visage humain, cravate, habits&#10;&#10;Description générée automatiquement">
              <a:extLst>
                <a:ext uri="{FF2B5EF4-FFF2-40B4-BE49-F238E27FC236}">
                  <a16:creationId xmlns:a16="http://schemas.microsoft.com/office/drawing/2014/main" id="{FE68C617-FCE5-DA29-8ADB-6B22E9327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3315" y="1817591"/>
              <a:ext cx="3182760" cy="4546800"/>
            </a:xfrm>
            <a:prstGeom prst="rect">
              <a:avLst/>
            </a:prstGeom>
          </p:spPr>
        </p:pic>
        <p:pic>
          <p:nvPicPr>
            <p:cNvPr id="32" name="Image 31" descr="Une image contenant Barbe humaine, plein air, barbe, herbe&#10;&#10;Description générée automatiquement">
              <a:extLst>
                <a:ext uri="{FF2B5EF4-FFF2-40B4-BE49-F238E27FC236}">
                  <a16:creationId xmlns:a16="http://schemas.microsoft.com/office/drawing/2014/main" id="{FC8F7C68-15F4-EEA1-44E0-FFF51BC46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948" y="1801221"/>
              <a:ext cx="3410100" cy="4546800"/>
            </a:xfrm>
            <a:prstGeom prst="rect">
              <a:avLst/>
            </a:prstGeom>
          </p:spPr>
        </p:pic>
      </p:grpSp>
      <p:pic>
        <p:nvPicPr>
          <p:cNvPr id="34" name="Image 33" descr="Une image contenant Police, Graphique, capture d’écran, texte&#10;&#10;Description générée automatiquement">
            <a:extLst>
              <a:ext uri="{FF2B5EF4-FFF2-40B4-BE49-F238E27FC236}">
                <a16:creationId xmlns:a16="http://schemas.microsoft.com/office/drawing/2014/main" id="{8E077EAB-4092-6415-F56B-AE63846397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4257" y="4150896"/>
            <a:ext cx="3119085" cy="2495269"/>
          </a:xfrm>
          <a:prstGeom prst="rect">
            <a:avLst/>
          </a:prstGeom>
        </p:spPr>
      </p:pic>
      <p:pic>
        <p:nvPicPr>
          <p:cNvPr id="42" name="Image 41" descr="Une image contenant texte, logo, symbole, Police&#10;&#10;Description générée automatiquement">
            <a:extLst>
              <a:ext uri="{FF2B5EF4-FFF2-40B4-BE49-F238E27FC236}">
                <a16:creationId xmlns:a16="http://schemas.microsoft.com/office/drawing/2014/main" id="{1E3D07AD-2372-C797-84AC-315EE05B2C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86"/>
          <a:stretch/>
        </p:blipFill>
        <p:spPr>
          <a:xfrm>
            <a:off x="9615429" y="1721106"/>
            <a:ext cx="2590916" cy="2236316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7ADEDDF8-6F9C-ED6C-F875-6F9421DE8DC0}"/>
              </a:ext>
            </a:extLst>
          </p:cNvPr>
          <p:cNvSpPr txBox="1"/>
          <p:nvPr/>
        </p:nvSpPr>
        <p:spPr>
          <a:xfrm>
            <a:off x="584200" y="5702709"/>
            <a:ext cx="4931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tx2"/>
                </a:solidFill>
              </a:rPr>
              <a:t>PhD en Système d’information</a:t>
            </a:r>
          </a:p>
        </p:txBody>
      </p:sp>
    </p:spTree>
    <p:extLst>
      <p:ext uri="{BB962C8B-B14F-4D97-AF65-F5344CB8AC3E}">
        <p14:creationId xmlns:p14="http://schemas.microsoft.com/office/powerpoint/2010/main" val="293336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8BE20-4DEF-D880-000B-94712023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43830FE-1F6B-9455-7301-A03E0FEB7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B7A812-66B0-9AEF-60EC-7EAB18DC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03" t="8300" r="11777" b="88709"/>
          <a:stretch/>
        </p:blipFill>
        <p:spPr>
          <a:xfrm>
            <a:off x="2714127" y="510261"/>
            <a:ext cx="9151620" cy="574437"/>
          </a:xfrm>
          <a:prstGeom prst="rect">
            <a:avLst/>
          </a:prstGeom>
        </p:spPr>
      </p:pic>
      <p:pic>
        <p:nvPicPr>
          <p:cNvPr id="6" name="Image 5" descr="Une image contenant Barbe humaine, plein air, barbe, herbe&#10;&#10;Description générée automatiquement">
            <a:extLst>
              <a:ext uri="{FF2B5EF4-FFF2-40B4-BE49-F238E27FC236}">
                <a16:creationId xmlns:a16="http://schemas.microsoft.com/office/drawing/2014/main" id="{479E4979-D472-AF25-9A87-27939ACCA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23" y="-4255092"/>
            <a:ext cx="2994256" cy="3992341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CDE3852B-52D8-EA47-BFAB-7235EEAA279E}"/>
              </a:ext>
            </a:extLst>
          </p:cNvPr>
          <p:cNvSpPr txBox="1">
            <a:spLocks/>
          </p:cNvSpPr>
          <p:nvPr/>
        </p:nvSpPr>
        <p:spPr>
          <a:xfrm>
            <a:off x="451815" y="263764"/>
            <a:ext cx="32410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Sujet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5074C8EF-ED2D-6625-6D06-73462164A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23" y="1974439"/>
            <a:ext cx="3953234" cy="526211"/>
          </a:xfrm>
        </p:spPr>
        <p:txBody>
          <a:bodyPr>
            <a:noAutofit/>
          </a:bodyPr>
          <a:lstStyle/>
          <a:p>
            <a:r>
              <a:rPr lang="fr-FR" sz="3000" b="1" u="sng" dirty="0">
                <a:solidFill>
                  <a:schemeClr val="tx2"/>
                </a:solidFill>
              </a:rPr>
              <a:t>Problématiques: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1F53CEB5-466D-2AF2-1466-4C2189D6DAB0}"/>
              </a:ext>
            </a:extLst>
          </p:cNvPr>
          <p:cNvSpPr txBox="1">
            <a:spLocks/>
          </p:cNvSpPr>
          <p:nvPr/>
        </p:nvSpPr>
        <p:spPr>
          <a:xfrm>
            <a:off x="575222" y="2720554"/>
            <a:ext cx="11616778" cy="3767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aider à la mise en place de la méthode agile dans un projet informatique ?</a:t>
            </a:r>
          </a:p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être considéré comme un coach agile compétent ?</a:t>
            </a:r>
          </a:p>
          <a:p>
            <a:pPr>
              <a:lnSpc>
                <a:spcPct val="150000"/>
              </a:lnSpc>
            </a:pPr>
            <a:r>
              <a:rPr lang="fr-FR" sz="3000" i="1" dirty="0" err="1">
                <a:solidFill>
                  <a:schemeClr val="tx2"/>
                </a:solidFill>
              </a:rPr>
              <a:t>Sera-t’il</a:t>
            </a:r>
            <a:r>
              <a:rPr lang="fr-FR" sz="3000" i="1" dirty="0">
                <a:solidFill>
                  <a:schemeClr val="tx2"/>
                </a:solidFill>
              </a:rPr>
              <a:t> accepté par une équipe composée d’êtres humains ?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3627FE1-D24A-B06F-A12A-5E2FAD05842F}"/>
              </a:ext>
            </a:extLst>
          </p:cNvPr>
          <p:cNvSpPr/>
          <p:nvPr/>
        </p:nvSpPr>
        <p:spPr>
          <a:xfrm>
            <a:off x="7770098" y="6858000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80C2FF8E-72B6-999C-B460-7C7A958E6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815" y="510261"/>
            <a:ext cx="4015487" cy="6020221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1991F8A7-9A4E-B808-A53C-ADADA0A01E49}"/>
              </a:ext>
            </a:extLst>
          </p:cNvPr>
          <p:cNvSpPr/>
          <p:nvPr/>
        </p:nvSpPr>
        <p:spPr>
          <a:xfrm>
            <a:off x="-2184055" y="7120751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45F8C9A5-C3DF-4B2E-CD43-EBC1B26E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4</a:t>
            </a:fld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8D6FA10-8B54-F418-52B6-6E58F82EF468}"/>
              </a:ext>
            </a:extLst>
          </p:cNvPr>
          <p:cNvSpPr/>
          <p:nvPr/>
        </p:nvSpPr>
        <p:spPr>
          <a:xfrm>
            <a:off x="-3825907" y="3520371"/>
            <a:ext cx="3600000" cy="36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04BB9CA-6A65-51F9-A84E-5089695BC1FC}"/>
              </a:ext>
            </a:extLst>
          </p:cNvPr>
          <p:cNvSpPr/>
          <p:nvPr/>
        </p:nvSpPr>
        <p:spPr>
          <a:xfrm>
            <a:off x="6810600" y="-4718739"/>
            <a:ext cx="3600000" cy="3600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424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1EC06-91B1-8093-E720-09A9B67E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ECEC101-9094-290E-F606-B8BA73C7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739B7E51-18B8-FDA6-027C-0AB7D3BC0732}"/>
              </a:ext>
            </a:extLst>
          </p:cNvPr>
          <p:cNvSpPr/>
          <p:nvPr/>
        </p:nvSpPr>
        <p:spPr>
          <a:xfrm>
            <a:off x="-2917981" y="3258000"/>
            <a:ext cx="3600000" cy="36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9EBF95B-96CD-4B97-8C04-A238A130B105}"/>
              </a:ext>
            </a:extLst>
          </p:cNvPr>
          <p:cNvSpPr/>
          <p:nvPr/>
        </p:nvSpPr>
        <p:spPr>
          <a:xfrm>
            <a:off x="10392000" y="-1254575"/>
            <a:ext cx="3600000" cy="360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559C473-AC7C-0154-7E95-95E93FC54883}"/>
              </a:ext>
            </a:extLst>
          </p:cNvPr>
          <p:cNvSpPr/>
          <p:nvPr/>
        </p:nvSpPr>
        <p:spPr>
          <a:xfrm>
            <a:off x="4690965" y="4753338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F78994D-CA85-DC0D-D0EB-80CA0F4F8FD4}"/>
              </a:ext>
            </a:extLst>
          </p:cNvPr>
          <p:cNvSpPr/>
          <p:nvPr/>
        </p:nvSpPr>
        <p:spPr>
          <a:xfrm>
            <a:off x="-1348186" y="577283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E5AF2859-91A6-64F3-13D4-0F34693E0D5E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E489A5C1-2FBD-03D7-4FA6-FA443E99C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30" y="2345425"/>
            <a:ext cx="5019676" cy="3427413"/>
          </a:xfrm>
        </p:spPr>
        <p:txBody>
          <a:bodyPr/>
          <a:lstStyle/>
          <a:p>
            <a:r>
              <a:rPr lang="fr-FR" dirty="0">
                <a:latin typeface="Avenir Next LT Pro Demi" panose="020F0502020204030204" pitchFamily="34" charset="0"/>
              </a:rPr>
              <a:t>Année de création </a:t>
            </a:r>
            <a:r>
              <a:rPr lang="fr-FR" dirty="0"/>
              <a:t>: 2001</a:t>
            </a:r>
          </a:p>
          <a:p>
            <a:r>
              <a:rPr lang="fr-FR" dirty="0">
                <a:latin typeface="Avenir Next LT Pro Demi" panose="020B0704020202020204" pitchFamily="34" charset="0"/>
              </a:rPr>
              <a:t>Définition de l’article :</a:t>
            </a:r>
          </a:p>
          <a:p>
            <a:r>
              <a:rPr lang="fr-FR" dirty="0"/>
              <a:t>Terme générique englobant les méthodes et pratiques permettant de rendre flexible le développement d’une solution informatique.</a:t>
            </a:r>
          </a:p>
        </p:txBody>
      </p:sp>
      <p:pic>
        <p:nvPicPr>
          <p:cNvPr id="11" name="Image 10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9A11FE9F-B4CC-3A46-E601-06D17AEFC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383" y="418889"/>
            <a:ext cx="4015487" cy="6020221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C30903BE-38A3-2FF7-2ED1-7F2C79E6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5</a:t>
            </a:fld>
            <a:endParaRPr lang="en-US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656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E098F-C544-F72B-75CF-E654EBB4C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81CE9DA-7FEA-0871-A94A-B06CE7632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151FB72-E1AB-A58C-B12F-28594B55B5E4}"/>
              </a:ext>
            </a:extLst>
          </p:cNvPr>
          <p:cNvSpPr/>
          <p:nvPr/>
        </p:nvSpPr>
        <p:spPr>
          <a:xfrm>
            <a:off x="-2917981" y="3258000"/>
            <a:ext cx="3600000" cy="36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59BAAC4-E6BD-C37B-F915-5CE5B24CE1CE}"/>
              </a:ext>
            </a:extLst>
          </p:cNvPr>
          <p:cNvSpPr/>
          <p:nvPr/>
        </p:nvSpPr>
        <p:spPr>
          <a:xfrm>
            <a:off x="10392000" y="-1254575"/>
            <a:ext cx="3600000" cy="360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DA14F5F-EE91-DA2D-53C0-4F7EEAF088CD}"/>
              </a:ext>
            </a:extLst>
          </p:cNvPr>
          <p:cNvSpPr/>
          <p:nvPr/>
        </p:nvSpPr>
        <p:spPr>
          <a:xfrm>
            <a:off x="4690965" y="4753338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74308B0-5F6D-1ADD-3F93-D4CB5A393F8C}"/>
              </a:ext>
            </a:extLst>
          </p:cNvPr>
          <p:cNvSpPr/>
          <p:nvPr/>
        </p:nvSpPr>
        <p:spPr>
          <a:xfrm>
            <a:off x="-1348186" y="577283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62406F96-18A4-E437-B94D-D661277DBEF1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5E8E9F3B-9CE3-7EE8-B593-315B19525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30" y="1926584"/>
            <a:ext cx="5019676" cy="464450"/>
          </a:xfrm>
        </p:spPr>
        <p:txBody>
          <a:bodyPr>
            <a:normAutofit lnSpcReduction="10000"/>
          </a:bodyPr>
          <a:lstStyle/>
          <a:p>
            <a:r>
              <a:rPr lang="fr-FR" dirty="0">
                <a:solidFill>
                  <a:schemeClr val="tx2"/>
                </a:solidFill>
                <a:latin typeface="Avenir Next LT Pro Demi" panose="020B0704020202020204" pitchFamily="34" charset="0"/>
              </a:rPr>
              <a:t>Principes fondamentaux</a:t>
            </a:r>
          </a:p>
        </p:txBody>
      </p:sp>
      <p:pic>
        <p:nvPicPr>
          <p:cNvPr id="11" name="Image 10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E3BB78EC-AD4E-BE70-D580-0BCEFA934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383" y="418889"/>
            <a:ext cx="4015487" cy="6020221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10D7BE99-30E5-5DC7-4714-B0263BC92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6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33AE30C-449E-1EDF-259F-861DC4F3034D}"/>
              </a:ext>
            </a:extLst>
          </p:cNvPr>
          <p:cNvSpPr txBox="1"/>
          <p:nvPr/>
        </p:nvSpPr>
        <p:spPr>
          <a:xfrm>
            <a:off x="857249" y="2810133"/>
            <a:ext cx="5438775" cy="2746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Priorité aux individus et aux interactions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Fonctionnel &gt; Documentation technique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Collaboration &amp; Communication avec le client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Adaptation aux changements</a:t>
            </a:r>
          </a:p>
        </p:txBody>
      </p:sp>
      <p:pic>
        <p:nvPicPr>
          <p:cNvPr id="4" name="Image 3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B2D98A36-3D19-D2E4-8E56-9499EA8D1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3368" y="1239987"/>
            <a:ext cx="1496977" cy="1496977"/>
          </a:xfrm>
          <a:prstGeom prst="rect">
            <a:avLst/>
          </a:prstGeom>
        </p:spPr>
      </p:pic>
      <p:pic>
        <p:nvPicPr>
          <p:cNvPr id="5" name="Image 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8902CB4-82DF-E780-8D23-D9C16013F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3368" y="2962201"/>
            <a:ext cx="3454400" cy="1810681"/>
          </a:xfrm>
          <a:prstGeom prst="rect">
            <a:avLst/>
          </a:prstGeom>
        </p:spPr>
      </p:pic>
      <p:pic>
        <p:nvPicPr>
          <p:cNvPr id="6" name="Image 5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962353E1-1E74-64D7-9382-DFDBD439DC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1400" y="542390"/>
            <a:ext cx="3454400" cy="184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7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B7039-3014-E6C4-83CE-B1415D7F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DDCD05-2E7F-8C46-4DE4-3A86EB41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B9089DC5-DDE2-CA6D-56EF-1DD4E09E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7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text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7EF6282B-549A-E33E-E5A1-791A47E8A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13" y="7194129"/>
            <a:ext cx="4015487" cy="6020221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D8DA4786-6CA2-B1A9-8D1B-97A4539B8D3D}"/>
              </a:ext>
            </a:extLst>
          </p:cNvPr>
          <p:cNvSpPr txBox="1">
            <a:spLocks/>
          </p:cNvSpPr>
          <p:nvPr/>
        </p:nvSpPr>
        <p:spPr>
          <a:xfrm>
            <a:off x="546622" y="2059433"/>
            <a:ext cx="6718243" cy="42969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lnSpc>
                <a:spcPct val="200000"/>
              </a:lnSpc>
            </a:pPr>
            <a:r>
              <a:rPr lang="fr-FR" sz="3900" dirty="0">
                <a:solidFill>
                  <a:schemeClr val="accent5">
                    <a:lumMod val="75000"/>
                  </a:schemeClr>
                </a:solidFill>
              </a:rPr>
              <a:t>Scrum</a:t>
            </a:r>
          </a:p>
          <a:p>
            <a:pPr>
              <a:lnSpc>
                <a:spcPct val="200000"/>
              </a:lnSpc>
            </a:pPr>
            <a:r>
              <a:rPr lang="fr-FR" sz="3900" dirty="0">
                <a:solidFill>
                  <a:schemeClr val="accent5">
                    <a:lumMod val="75000"/>
                  </a:schemeClr>
                </a:solidFill>
              </a:rPr>
              <a:t>Kanban</a:t>
            </a:r>
          </a:p>
          <a:p>
            <a:pPr>
              <a:lnSpc>
                <a:spcPct val="200000"/>
              </a:lnSpc>
            </a:pPr>
            <a:r>
              <a:rPr lang="fr-FR" sz="3900" dirty="0">
                <a:solidFill>
                  <a:schemeClr val="accent5">
                    <a:lumMod val="75000"/>
                  </a:schemeClr>
                </a:solidFill>
              </a:rPr>
              <a:t>XP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48A0716-DB9B-FACF-9163-3A28A2E38866}"/>
              </a:ext>
            </a:extLst>
          </p:cNvPr>
          <p:cNvSpPr/>
          <p:nvPr/>
        </p:nvSpPr>
        <p:spPr>
          <a:xfrm>
            <a:off x="5124449" y="1436768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7F84452-F55B-032C-E8BE-DF0435322B3C}"/>
              </a:ext>
            </a:extLst>
          </p:cNvPr>
          <p:cNvSpPr/>
          <p:nvPr/>
        </p:nvSpPr>
        <p:spPr>
          <a:xfrm>
            <a:off x="7359674" y="713628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A3972CA-640E-DDE8-0463-459DEBE23BA1}"/>
              </a:ext>
            </a:extLst>
          </p:cNvPr>
          <p:cNvSpPr/>
          <p:nvPr/>
        </p:nvSpPr>
        <p:spPr>
          <a:xfrm>
            <a:off x="4638313" y="8917433"/>
            <a:ext cx="5400000" cy="5400000"/>
          </a:xfrm>
          <a:prstGeom prst="ellipse">
            <a:avLst/>
          </a:prstGeom>
          <a:solidFill>
            <a:srgbClr val="00D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A894DC3-F230-33AC-DD5A-BAF06883C7E9}"/>
              </a:ext>
            </a:extLst>
          </p:cNvPr>
          <p:cNvSpPr/>
          <p:nvPr/>
        </p:nvSpPr>
        <p:spPr>
          <a:xfrm>
            <a:off x="4832327" y="3379361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80939097-E13C-6564-BD5A-268FAE92A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891" y="1837717"/>
            <a:ext cx="1496977" cy="1496977"/>
          </a:xfrm>
          <a:prstGeom prst="rect">
            <a:avLst/>
          </a:prstGeom>
        </p:spPr>
      </p:pic>
      <p:pic>
        <p:nvPicPr>
          <p:cNvPr id="19" name="Image 1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CDFF23B-1754-2DEE-19C4-E435B0266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56" y="3864376"/>
            <a:ext cx="3454400" cy="1810681"/>
          </a:xfrm>
          <a:prstGeom prst="rect">
            <a:avLst/>
          </a:prstGeom>
        </p:spPr>
      </p:pic>
      <p:pic>
        <p:nvPicPr>
          <p:cNvPr id="24" name="Image 23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6A055BAD-0A1F-FEF3-C5A0-55CE392588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128" y="1693441"/>
            <a:ext cx="3454400" cy="1848644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5FF60DAC-1128-B768-6030-B2D83DA440C9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31DE1E9-22AB-3622-04B4-5409E89260F6}"/>
              </a:ext>
            </a:extLst>
          </p:cNvPr>
          <p:cNvSpPr txBox="1">
            <a:spLocks/>
          </p:cNvSpPr>
          <p:nvPr/>
        </p:nvSpPr>
        <p:spPr>
          <a:xfrm>
            <a:off x="451813" y="1180862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4900" dirty="0">
                <a:solidFill>
                  <a:schemeClr val="accent5">
                    <a:lumMod val="75000"/>
                  </a:schemeClr>
                </a:solidFill>
              </a:rPr>
              <a:t>Trois méthodes</a:t>
            </a:r>
          </a:p>
        </p:txBody>
      </p:sp>
      <p:pic>
        <p:nvPicPr>
          <p:cNvPr id="26" name="Image 25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5DFDF4F3-5B1D-E5B2-4B9B-8C874D210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5" y="7805862"/>
            <a:ext cx="9903206" cy="45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00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97858-21C1-1932-0E54-E864E20D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5D10EBB-B62E-F6F4-40B4-AEDC4A91D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9E1959F-5685-CBFE-862B-76045DAD1811}"/>
              </a:ext>
            </a:extLst>
          </p:cNvPr>
          <p:cNvSpPr/>
          <p:nvPr/>
        </p:nvSpPr>
        <p:spPr>
          <a:xfrm>
            <a:off x="10191381" y="-75587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8A9B50E-7A0F-BED9-9969-24F87883EF59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87073F7-97D9-7084-93ED-E2DB73575B78}"/>
              </a:ext>
            </a:extLst>
          </p:cNvPr>
          <p:cNvSpPr/>
          <p:nvPr/>
        </p:nvSpPr>
        <p:spPr>
          <a:xfrm>
            <a:off x="-1348186" y="555864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D1A900E9-608A-23A3-CE4A-1A8C1CA1A1E2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pic>
        <p:nvPicPr>
          <p:cNvPr id="3" name="Image 2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87165DF2-9A78-30C1-7083-A3D1C916E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63" y="2071185"/>
            <a:ext cx="9903206" cy="456897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33ADB4A-698E-D048-C1FD-EF2062DA05E5}"/>
              </a:ext>
            </a:extLst>
          </p:cNvPr>
          <p:cNvSpPr txBox="1"/>
          <p:nvPr/>
        </p:nvSpPr>
        <p:spPr>
          <a:xfrm>
            <a:off x="1071563" y="1299352"/>
            <a:ext cx="100488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SCRUM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62BD50-0A9F-4754-996B-4034B800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8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9F9C62C3-D1D8-D949-F69C-A6188AB04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311" y="115859"/>
            <a:ext cx="1496977" cy="1496977"/>
          </a:xfrm>
          <a:prstGeom prst="rect">
            <a:avLst/>
          </a:prstGeom>
        </p:spPr>
      </p:pic>
      <p:pic>
        <p:nvPicPr>
          <p:cNvPr id="9" name="Image 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545BF5FA-F7CD-A2A4-F756-EBB60A014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205" y="-2566555"/>
            <a:ext cx="3454400" cy="1810681"/>
          </a:xfrm>
          <a:prstGeom prst="rect">
            <a:avLst/>
          </a:prstGeom>
        </p:spPr>
      </p:pic>
      <p:pic>
        <p:nvPicPr>
          <p:cNvPr id="10" name="Image 9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4A5C7F47-FE9A-7D34-1268-C06BBFA6E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3237" y="-4986366"/>
            <a:ext cx="3454400" cy="1848644"/>
          </a:xfrm>
          <a:prstGeom prst="rect">
            <a:avLst/>
          </a:prstGeom>
        </p:spPr>
      </p:pic>
      <p:pic>
        <p:nvPicPr>
          <p:cNvPr id="14" name="Image 13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D6F9CB06-B7B7-10BD-F2F7-6C2EE018F2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95" y="7166689"/>
            <a:ext cx="8438409" cy="47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38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06307-A1B4-CA94-5B1D-6054108B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77BBF8B-E36D-484E-22E6-1562CBA5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A626D40-39F6-E8D7-CC42-B362AA021991}"/>
              </a:ext>
            </a:extLst>
          </p:cNvPr>
          <p:cNvSpPr/>
          <p:nvPr/>
        </p:nvSpPr>
        <p:spPr>
          <a:xfrm>
            <a:off x="10191381" y="-75587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43462BA-F570-5682-DC24-7988F53BBF0D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B1CB81B-27BA-2278-2676-1778F86BF923}"/>
              </a:ext>
            </a:extLst>
          </p:cNvPr>
          <p:cNvSpPr/>
          <p:nvPr/>
        </p:nvSpPr>
        <p:spPr>
          <a:xfrm>
            <a:off x="-1348186" y="555864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9A0474B4-D7EC-0479-1EDF-FEEEC2A2C5EE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pic>
        <p:nvPicPr>
          <p:cNvPr id="3" name="Image 2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90351737-5175-E772-1FDD-D86307141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66" y="7728624"/>
            <a:ext cx="9903206" cy="456897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FF4B954-8A64-E5FC-BE08-68FD54A48934}"/>
              </a:ext>
            </a:extLst>
          </p:cNvPr>
          <p:cNvSpPr txBox="1"/>
          <p:nvPr/>
        </p:nvSpPr>
        <p:spPr>
          <a:xfrm>
            <a:off x="1071563" y="1299352"/>
            <a:ext cx="100488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KANBAN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356AB8-7444-151C-E670-F3E6C52D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9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Graphique, texte, Police, graphisme&#10;&#10;Le contenu généré par l’IA peut être incorrect.">
            <a:extLst>
              <a:ext uri="{FF2B5EF4-FFF2-40B4-BE49-F238E27FC236}">
                <a16:creationId xmlns:a16="http://schemas.microsoft.com/office/drawing/2014/main" id="{10CC6EB1-61B8-006C-D4F4-EC5F0D264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472" y="-2409704"/>
            <a:ext cx="1496977" cy="1496977"/>
          </a:xfrm>
          <a:prstGeom prst="rect">
            <a:avLst/>
          </a:prstGeom>
        </p:spPr>
      </p:pic>
      <p:pic>
        <p:nvPicPr>
          <p:cNvPr id="11" name="Image 10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CAED0432-3F66-339B-D78B-63FCA7D00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95" y="1998925"/>
            <a:ext cx="8438409" cy="47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3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491FF-81A7-7C1C-B212-A6D921D5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CCCE7B3-B560-E8A9-7468-34D97D2C4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DA6079B-5BA3-7D92-E922-ACC6E552DB01}"/>
              </a:ext>
            </a:extLst>
          </p:cNvPr>
          <p:cNvSpPr/>
          <p:nvPr/>
        </p:nvSpPr>
        <p:spPr>
          <a:xfrm>
            <a:off x="-5554813" y="3429000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4CA6694-8D79-BC26-0220-CBE01DBF8027}"/>
              </a:ext>
            </a:extLst>
          </p:cNvPr>
          <p:cNvSpPr/>
          <p:nvPr/>
        </p:nvSpPr>
        <p:spPr>
          <a:xfrm>
            <a:off x="10191381" y="-75587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98A48D5-5D00-19E7-6893-70C53E93F910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C9F7F73-D5CC-F350-A6DE-152FA4EF67E5}"/>
              </a:ext>
            </a:extLst>
          </p:cNvPr>
          <p:cNvSpPr/>
          <p:nvPr/>
        </p:nvSpPr>
        <p:spPr>
          <a:xfrm>
            <a:off x="-1348186" y="5558648"/>
            <a:ext cx="3600000" cy="36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54E0B20C-70A9-AA7B-BDB1-6DB7A78209ED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6718243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La Méthode Agile</a:t>
            </a:r>
          </a:p>
        </p:txBody>
      </p:sp>
      <p:pic>
        <p:nvPicPr>
          <p:cNvPr id="4" name="Image 3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A73C93A5-1A61-939A-CC1C-061DC7595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8670" y="3798665"/>
            <a:ext cx="2153733" cy="1669143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7EBA3A-A290-FBE1-DA90-7CC8EF08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10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11" name="Image 10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480530AB-941C-F598-2CBC-D5BB11F47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791" y="7494596"/>
            <a:ext cx="8438409" cy="4746606"/>
          </a:xfrm>
          <a:prstGeom prst="rect">
            <a:avLst/>
          </a:prstGeom>
        </p:spPr>
      </p:pic>
      <p:pic>
        <p:nvPicPr>
          <p:cNvPr id="8" name="Image 7" descr="Une image contenant texte, Polic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8B70554E-344D-D3DF-E6CE-9EF89BE50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1859463"/>
            <a:ext cx="9018304" cy="482620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C7C8F63-0D54-5190-45FE-73E41A5CD3CB}"/>
              </a:ext>
            </a:extLst>
          </p:cNvPr>
          <p:cNvSpPr txBox="1"/>
          <p:nvPr/>
        </p:nvSpPr>
        <p:spPr>
          <a:xfrm>
            <a:off x="1071563" y="1299352"/>
            <a:ext cx="100488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XP</a:t>
            </a:r>
          </a:p>
        </p:txBody>
      </p:sp>
      <p:pic>
        <p:nvPicPr>
          <p:cNvPr id="10" name="Image 9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B5AD8AD5-6A1F-64B3-F963-994BDF92DD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0301" y="1413574"/>
            <a:ext cx="1645761" cy="164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3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22CCB-F8E2-D103-40ED-73D90586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9674806-E25C-E590-50B4-4B6F3B9EB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4AC17ED-163C-06E9-96D4-C28E0CD845C9}"/>
              </a:ext>
            </a:extLst>
          </p:cNvPr>
          <p:cNvSpPr/>
          <p:nvPr/>
        </p:nvSpPr>
        <p:spPr>
          <a:xfrm>
            <a:off x="-2657934" y="-2275236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417AA9AC-3148-6FBF-FE39-2C33B8541491}"/>
              </a:ext>
            </a:extLst>
          </p:cNvPr>
          <p:cNvSpPr/>
          <p:nvPr/>
        </p:nvSpPr>
        <p:spPr>
          <a:xfrm>
            <a:off x="-3782441" y="2321523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409FEF27-1A3E-C612-940E-A4504E15140E}"/>
              </a:ext>
            </a:extLst>
          </p:cNvPr>
          <p:cNvSpPr/>
          <p:nvPr/>
        </p:nvSpPr>
        <p:spPr>
          <a:xfrm>
            <a:off x="-3557934" y="4437855"/>
            <a:ext cx="1800000" cy="180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DAD08D7-EC19-54A0-CECC-CFE0D6F80BB0}"/>
              </a:ext>
            </a:extLst>
          </p:cNvPr>
          <p:cNvSpPr/>
          <p:nvPr/>
        </p:nvSpPr>
        <p:spPr>
          <a:xfrm>
            <a:off x="11498172" y="-1915236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FB4BBEC-982A-C679-5E99-EB18BAE03CCF}"/>
              </a:ext>
            </a:extLst>
          </p:cNvPr>
          <p:cNvSpPr/>
          <p:nvPr/>
        </p:nvSpPr>
        <p:spPr>
          <a:xfrm>
            <a:off x="296255" y="3584388"/>
            <a:ext cx="2624875" cy="25599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BB94A40-358B-DBF3-6F62-E516C9346E25}"/>
              </a:ext>
            </a:extLst>
          </p:cNvPr>
          <p:cNvSpPr/>
          <p:nvPr/>
        </p:nvSpPr>
        <p:spPr>
          <a:xfrm>
            <a:off x="12745895" y="-1356714"/>
            <a:ext cx="2929675" cy="287685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523F624-280D-B453-6DF6-47FEC2DADEC7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09E0596-B454-A4EE-906A-8F7881CA730A}"/>
              </a:ext>
            </a:extLst>
          </p:cNvPr>
          <p:cNvSpPr/>
          <p:nvPr/>
        </p:nvSpPr>
        <p:spPr>
          <a:xfrm>
            <a:off x="708693" y="1457437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D59DB236-2903-4910-2975-2E11C4B93F3C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3" name="Image 2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FDFF64AF-842E-957B-FB76-2B53D99BF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3" y="7154607"/>
            <a:ext cx="9903206" cy="456897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8DBE800-6686-6029-C198-A6F791397172}"/>
              </a:ext>
            </a:extLst>
          </p:cNvPr>
          <p:cNvSpPr txBox="1"/>
          <p:nvPr/>
        </p:nvSpPr>
        <p:spPr>
          <a:xfrm>
            <a:off x="2859314" y="1669143"/>
            <a:ext cx="69233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2"/>
                </a:solidFill>
              </a:rPr>
              <a:t>Analyse des tweets entre Janvier et Mars 2023 ayant pour contexte </a:t>
            </a:r>
            <a:r>
              <a:rPr lang="fr-FR" sz="2800" dirty="0" err="1">
                <a:solidFill>
                  <a:schemeClr val="tx2"/>
                </a:solidFill>
              </a:rPr>
              <a:t>ChatGPT</a:t>
            </a:r>
            <a:r>
              <a:rPr lang="fr-FR" sz="2800" dirty="0">
                <a:solidFill>
                  <a:schemeClr val="tx2"/>
                </a:solidFill>
              </a:rPr>
              <a:t> et la méthode Agile (2 mois après la sortie de </a:t>
            </a:r>
            <a:r>
              <a:rPr lang="fr-FR" sz="2800" dirty="0" err="1">
                <a:solidFill>
                  <a:schemeClr val="tx2"/>
                </a:solidFill>
              </a:rPr>
              <a:t>ChatGPT</a:t>
            </a:r>
            <a:r>
              <a:rPr lang="fr-FR" sz="2800" dirty="0">
                <a:solidFill>
                  <a:schemeClr val="tx2"/>
                </a:solidFill>
              </a:rPr>
              <a:t>)</a:t>
            </a:r>
          </a:p>
        </p:txBody>
      </p:sp>
      <p:pic>
        <p:nvPicPr>
          <p:cNvPr id="14" name="Image 13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4690DEB3-064F-7D4D-9E03-6941C555F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14" y="3952860"/>
            <a:ext cx="2153733" cy="166914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7D69EA2-4A1B-0865-BBF5-A74D14DA6C4C}"/>
              </a:ext>
            </a:extLst>
          </p:cNvPr>
          <p:cNvSpPr txBox="1"/>
          <p:nvPr/>
        </p:nvSpPr>
        <p:spPr>
          <a:xfrm>
            <a:off x="2859314" y="3952860"/>
            <a:ext cx="69233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2"/>
                </a:solidFill>
              </a:rPr>
              <a:t>Analyse textuelle via le langage de programmation R et visualisation graphique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B4130EE-E08D-455B-8E85-7E93ACA50502}"/>
              </a:ext>
            </a:extLst>
          </p:cNvPr>
          <p:cNvGrpSpPr/>
          <p:nvPr/>
        </p:nvGrpSpPr>
        <p:grpSpPr>
          <a:xfrm>
            <a:off x="2495999" y="7805400"/>
            <a:ext cx="7200000" cy="1820053"/>
            <a:chOff x="2496000" y="4368235"/>
            <a:chExt cx="7200000" cy="1820053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89F5960E-D3F5-5DF4-72C6-4AC9A1355E3A}"/>
                </a:ext>
              </a:extLst>
            </p:cNvPr>
            <p:cNvGrpSpPr/>
            <p:nvPr/>
          </p:nvGrpSpPr>
          <p:grpSpPr>
            <a:xfrm>
              <a:off x="2496000" y="5108288"/>
              <a:ext cx="7200000" cy="1080000"/>
              <a:chOff x="2496000" y="4934856"/>
              <a:chExt cx="7200000" cy="1080000"/>
            </a:xfrm>
          </p:grpSpPr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D2272FDB-49AE-0C77-958D-439B122392E8}"/>
                  </a:ext>
                </a:extLst>
              </p:cNvPr>
              <p:cNvSpPr/>
              <p:nvPr/>
            </p:nvSpPr>
            <p:spPr>
              <a:xfrm>
                <a:off x="60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accent3">
                      <a:lumMod val="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Flèche : droite 16">
                <a:extLst>
                  <a:ext uri="{FF2B5EF4-FFF2-40B4-BE49-F238E27FC236}">
                    <a16:creationId xmlns:a16="http://schemas.microsoft.com/office/drawing/2014/main" id="{BC78A028-D9F4-91DA-FAA2-56E4E18B6A6F}"/>
                  </a:ext>
                </a:extLst>
              </p:cNvPr>
              <p:cNvSpPr/>
              <p:nvPr/>
            </p:nvSpPr>
            <p:spPr>
              <a:xfrm flipH="1">
                <a:off x="24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rgbClr val="FF0000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8DFEE06-2AA3-5F34-9A0F-2D21E82B9D31}"/>
                </a:ext>
              </a:extLst>
            </p:cNvPr>
            <p:cNvSpPr txBox="1"/>
            <p:nvPr/>
          </p:nvSpPr>
          <p:spPr>
            <a:xfrm>
              <a:off x="2699200" y="4438576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A2739FBB-1FDC-DA5C-6ACE-DD61E0662927}"/>
                </a:ext>
              </a:extLst>
            </p:cNvPr>
            <p:cNvSpPr txBox="1"/>
            <p:nvPr/>
          </p:nvSpPr>
          <p:spPr>
            <a:xfrm>
              <a:off x="8911773" y="4368235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31950E7-387F-F613-FE17-199956025209}"/>
                </a:ext>
              </a:extLst>
            </p:cNvPr>
            <p:cNvSpPr txBox="1"/>
            <p:nvPr/>
          </p:nvSpPr>
          <p:spPr>
            <a:xfrm>
              <a:off x="3908871" y="4368235"/>
              <a:ext cx="4374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/>
                <a:t>Echelle d’avis positif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6DA800-5563-622D-C105-70FDE5E525FD}"/>
                </a:ext>
              </a:extLst>
            </p:cNvPr>
            <p:cNvSpPr/>
            <p:nvPr/>
          </p:nvSpPr>
          <p:spPr>
            <a:xfrm>
              <a:off x="6025821" y="5128724"/>
              <a:ext cx="145143" cy="10213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D9F93C65-A997-E2F9-83F4-6251989F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11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26" name="Image 25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1214FEE2-8D7E-EA5A-5405-CDD72198A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3" y="1520145"/>
            <a:ext cx="1645761" cy="164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5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E9194-83BE-76D1-A229-669CD8B4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2768126-741D-40F7-14EF-5CBFBF166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3F7D1FD-C197-686D-1D9C-7D0C8BCC5E62}"/>
              </a:ext>
            </a:extLst>
          </p:cNvPr>
          <p:cNvSpPr/>
          <p:nvPr/>
        </p:nvSpPr>
        <p:spPr>
          <a:xfrm>
            <a:off x="-4765139" y="-4059254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8CE6664-A890-1B88-ED35-669633463C8F}"/>
              </a:ext>
            </a:extLst>
          </p:cNvPr>
          <p:cNvSpPr/>
          <p:nvPr/>
        </p:nvSpPr>
        <p:spPr>
          <a:xfrm>
            <a:off x="-6055849" y="3513948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819FB24-4280-CD58-4DC5-D3502CB82AED}"/>
              </a:ext>
            </a:extLst>
          </p:cNvPr>
          <p:cNvSpPr/>
          <p:nvPr/>
        </p:nvSpPr>
        <p:spPr>
          <a:xfrm>
            <a:off x="15278989" y="-4059254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35BC7FB-E616-848A-77A0-8BC6622A99BB}"/>
              </a:ext>
            </a:extLst>
          </p:cNvPr>
          <p:cNvSpPr/>
          <p:nvPr/>
        </p:nvSpPr>
        <p:spPr>
          <a:xfrm>
            <a:off x="-5143032" y="6356350"/>
            <a:ext cx="2160000" cy="216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A9EC9C9D-A1A7-266B-2545-2619280FA7BC}"/>
              </a:ext>
            </a:extLst>
          </p:cNvPr>
          <p:cNvSpPr/>
          <p:nvPr/>
        </p:nvSpPr>
        <p:spPr>
          <a:xfrm>
            <a:off x="16447849" y="6028298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6DBAB1B-6848-9143-3BB4-0E7C3615F554}"/>
              </a:ext>
            </a:extLst>
          </p:cNvPr>
          <p:cNvSpPr/>
          <p:nvPr/>
        </p:nvSpPr>
        <p:spPr>
          <a:xfrm>
            <a:off x="-5559273" y="4413948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7451FD84-CF9B-11DB-2FA2-2E063EFE1D07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6F69747-35D8-892D-AD53-AECF6EE39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54" y="1594961"/>
            <a:ext cx="10033092" cy="450845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204B100-FABE-E723-8E30-46116AB49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9018" y="1362508"/>
            <a:ext cx="11296795" cy="5401383"/>
          </a:xfrm>
          <a:prstGeom prst="rect">
            <a:avLst/>
          </a:prstGeom>
        </p:spPr>
      </p:pic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FCA41E7C-9D72-01F8-477C-35E65FC8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12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B1A04BE-6C47-0755-93BF-104A4EE1FAAE}"/>
              </a:ext>
            </a:extLst>
          </p:cNvPr>
          <p:cNvSpPr/>
          <p:nvPr/>
        </p:nvSpPr>
        <p:spPr>
          <a:xfrm>
            <a:off x="-3691857" y="476919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Image 32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3B122012-DD3E-DBB9-B529-AF25099E4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4737" y="539627"/>
            <a:ext cx="1645761" cy="1645761"/>
          </a:xfrm>
          <a:prstGeom prst="rect">
            <a:avLst/>
          </a:prstGeom>
        </p:spPr>
      </p:pic>
      <p:grpSp>
        <p:nvGrpSpPr>
          <p:cNvPr id="53" name="Groupe 52">
            <a:extLst>
              <a:ext uri="{FF2B5EF4-FFF2-40B4-BE49-F238E27FC236}">
                <a16:creationId xmlns:a16="http://schemas.microsoft.com/office/drawing/2014/main" id="{00020D31-A22F-1A53-8900-8BF69C658AC9}"/>
              </a:ext>
            </a:extLst>
          </p:cNvPr>
          <p:cNvGrpSpPr/>
          <p:nvPr/>
        </p:nvGrpSpPr>
        <p:grpSpPr>
          <a:xfrm>
            <a:off x="9782629" y="-20307991"/>
            <a:ext cx="1098395" cy="9706354"/>
            <a:chOff x="9474407" y="248433"/>
            <a:chExt cx="1098395" cy="9706354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C78EDF5A-D2A8-C06D-19AB-5AE0CF436D81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64" name="Groupe 63">
                <a:extLst>
                  <a:ext uri="{FF2B5EF4-FFF2-40B4-BE49-F238E27FC236}">
                    <a16:creationId xmlns:a16="http://schemas.microsoft.com/office/drawing/2014/main" id="{7ED6E09B-514C-B166-AA4F-38928C52C3E6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69" name="Ellipse 68">
                  <a:extLst>
                    <a:ext uri="{FF2B5EF4-FFF2-40B4-BE49-F238E27FC236}">
                      <a16:creationId xmlns:a16="http://schemas.microsoft.com/office/drawing/2014/main" id="{F3235AFC-5EC2-3117-3A41-4A3F4E6EB716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Ellipse 69">
                  <a:extLst>
                    <a:ext uri="{FF2B5EF4-FFF2-40B4-BE49-F238E27FC236}">
                      <a16:creationId xmlns:a16="http://schemas.microsoft.com/office/drawing/2014/main" id="{39983379-DA5B-EE9C-5911-513F5908D8E9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>
                  <a:extLst>
                    <a:ext uri="{FF2B5EF4-FFF2-40B4-BE49-F238E27FC236}">
                      <a16:creationId xmlns:a16="http://schemas.microsoft.com/office/drawing/2014/main" id="{9BAC8363-641D-3C80-C6C1-752ACAF1F6F9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5" name="Groupe 64">
                <a:extLst>
                  <a:ext uri="{FF2B5EF4-FFF2-40B4-BE49-F238E27FC236}">
                    <a16:creationId xmlns:a16="http://schemas.microsoft.com/office/drawing/2014/main" id="{7BE608AE-2CC9-94E6-4903-6C4DDA05F9AC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66" name="Ellipse 65">
                  <a:extLst>
                    <a:ext uri="{FF2B5EF4-FFF2-40B4-BE49-F238E27FC236}">
                      <a16:creationId xmlns:a16="http://schemas.microsoft.com/office/drawing/2014/main" id="{EAD17F4D-343B-DE3E-EED3-669633A4DD98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7" name="Ellipse 66">
                  <a:extLst>
                    <a:ext uri="{FF2B5EF4-FFF2-40B4-BE49-F238E27FC236}">
                      <a16:creationId xmlns:a16="http://schemas.microsoft.com/office/drawing/2014/main" id="{C55308F3-B3B3-B609-308F-B5682D5E10AA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8" name="Ellipse 67">
                  <a:extLst>
                    <a:ext uri="{FF2B5EF4-FFF2-40B4-BE49-F238E27FC236}">
                      <a16:creationId xmlns:a16="http://schemas.microsoft.com/office/drawing/2014/main" id="{C7139F82-C10B-A3B2-FD44-151AE6E88EF0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040D941D-0F40-7486-3D6E-90F267242E6F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56" name="Groupe 55">
                <a:extLst>
                  <a:ext uri="{FF2B5EF4-FFF2-40B4-BE49-F238E27FC236}">
                    <a16:creationId xmlns:a16="http://schemas.microsoft.com/office/drawing/2014/main" id="{D3A13B42-D444-184C-BF3E-599B77439407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61" name="Ellipse 60">
                  <a:extLst>
                    <a:ext uri="{FF2B5EF4-FFF2-40B4-BE49-F238E27FC236}">
                      <a16:creationId xmlns:a16="http://schemas.microsoft.com/office/drawing/2014/main" id="{3E7A80CB-A73F-24F4-9951-14794E3DB3D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2" name="Ellipse 61">
                  <a:extLst>
                    <a:ext uri="{FF2B5EF4-FFF2-40B4-BE49-F238E27FC236}">
                      <a16:creationId xmlns:a16="http://schemas.microsoft.com/office/drawing/2014/main" id="{FE27C57E-97A4-68EE-9A64-B0B3773D4786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3" name="Ellipse 62">
                  <a:extLst>
                    <a:ext uri="{FF2B5EF4-FFF2-40B4-BE49-F238E27FC236}">
                      <a16:creationId xmlns:a16="http://schemas.microsoft.com/office/drawing/2014/main" id="{A45A3CB2-8E58-B96B-6E4A-3A815E301BFC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7" name="Groupe 56">
                <a:extLst>
                  <a:ext uri="{FF2B5EF4-FFF2-40B4-BE49-F238E27FC236}">
                    <a16:creationId xmlns:a16="http://schemas.microsoft.com/office/drawing/2014/main" id="{82675E09-0E1B-FECA-F8A0-26A9D9C64384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8" name="Ellipse 57">
                  <a:extLst>
                    <a:ext uri="{FF2B5EF4-FFF2-40B4-BE49-F238E27FC236}">
                      <a16:creationId xmlns:a16="http://schemas.microsoft.com/office/drawing/2014/main" id="{3034A2E2-25B0-6FE6-2C9A-1EC2C3304FD8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9" name="Ellipse 58">
                  <a:extLst>
                    <a:ext uri="{FF2B5EF4-FFF2-40B4-BE49-F238E27FC236}">
                      <a16:creationId xmlns:a16="http://schemas.microsoft.com/office/drawing/2014/main" id="{6F80888C-48D5-339C-1771-95CB9522A22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0D31A4EC-82F0-DCF9-C0CA-0B6F7B7486A5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4186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66F4E-09B1-118A-3CAC-4D9355CAB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3D4F24A-A4DB-8AD2-2727-1D62961F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B4F148F-F762-340D-A3D6-403C5403A8F6}"/>
              </a:ext>
            </a:extLst>
          </p:cNvPr>
          <p:cNvSpPr/>
          <p:nvPr/>
        </p:nvSpPr>
        <p:spPr>
          <a:xfrm>
            <a:off x="-858407" y="-515954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2F9D574-5771-1715-E47A-2CAEA582C575}"/>
              </a:ext>
            </a:extLst>
          </p:cNvPr>
          <p:cNvSpPr/>
          <p:nvPr/>
        </p:nvSpPr>
        <p:spPr>
          <a:xfrm>
            <a:off x="-1184376" y="2755598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99C340-00BD-EED7-5B65-C3B050E09DDA}"/>
              </a:ext>
            </a:extLst>
          </p:cNvPr>
          <p:cNvSpPr/>
          <p:nvPr/>
        </p:nvSpPr>
        <p:spPr>
          <a:xfrm>
            <a:off x="11354689" y="-534863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6042A40-4D9C-63F1-99D7-FD139B25296F}"/>
              </a:ext>
            </a:extLst>
          </p:cNvPr>
          <p:cNvSpPr/>
          <p:nvPr/>
        </p:nvSpPr>
        <p:spPr>
          <a:xfrm>
            <a:off x="-271559" y="5598000"/>
            <a:ext cx="2160000" cy="216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15AEB72-66E4-9378-0ACD-275F0D4EA0A1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089AA64-29C8-E603-1CB3-9A6D458A7C2E}"/>
              </a:ext>
            </a:extLst>
          </p:cNvPr>
          <p:cNvSpPr/>
          <p:nvPr/>
        </p:nvSpPr>
        <p:spPr>
          <a:xfrm>
            <a:off x="-2486023" y="1265137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8D5D493-5434-09A6-501D-84DA38598A64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33396C5-8F72-843C-FE9D-D6704F5D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454" y="1594961"/>
            <a:ext cx="10033092" cy="4508451"/>
          </a:xfrm>
          <a:prstGeom prst="rect">
            <a:avLst/>
          </a:prstGeom>
        </p:spPr>
      </p:pic>
      <p:pic>
        <p:nvPicPr>
          <p:cNvPr id="5" name="Image 4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D0BF4720-EE94-1357-4315-5963856C8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370" y="3439145"/>
            <a:ext cx="2153733" cy="166914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8FADBD9-0A45-7B86-1C2A-B590A6138B0F}"/>
              </a:ext>
            </a:extLst>
          </p:cNvPr>
          <p:cNvSpPr txBox="1"/>
          <p:nvPr/>
        </p:nvSpPr>
        <p:spPr>
          <a:xfrm>
            <a:off x="451814" y="1551477"/>
            <a:ext cx="6923315" cy="168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Nombre de Tweets récupéré</a:t>
            </a:r>
            <a:br>
              <a:rPr lang="fr-FR" sz="2800" dirty="0"/>
            </a:br>
            <a:r>
              <a:rPr lang="fr-FR" sz="2800" dirty="0"/>
              <a:t>Nombre de Tweets après second trie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D2D906B-9A8A-0239-65A4-ADDCBEA3994A}"/>
              </a:ext>
            </a:extLst>
          </p:cNvPr>
          <p:cNvSpPr txBox="1"/>
          <p:nvPr/>
        </p:nvSpPr>
        <p:spPr>
          <a:xfrm>
            <a:off x="6776131" y="1912446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2500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FEB6F3-B4AC-02C6-C48C-23869A7DD672}"/>
              </a:ext>
            </a:extLst>
          </p:cNvPr>
          <p:cNvSpPr txBox="1"/>
          <p:nvPr/>
        </p:nvSpPr>
        <p:spPr>
          <a:xfrm>
            <a:off x="6776131" y="2686724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2300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6C62D36-13EB-3704-5098-382D13D629E2}"/>
              </a:ext>
            </a:extLst>
          </p:cNvPr>
          <p:cNvSpPr txBox="1"/>
          <p:nvPr/>
        </p:nvSpPr>
        <p:spPr>
          <a:xfrm>
            <a:off x="6324793" y="6275074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0,2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090FD7CA-A527-BA30-E5F0-63C7267EC3C5}"/>
              </a:ext>
            </a:extLst>
          </p:cNvPr>
          <p:cNvGrpSpPr/>
          <p:nvPr/>
        </p:nvGrpSpPr>
        <p:grpSpPr>
          <a:xfrm>
            <a:off x="2496000" y="4368235"/>
            <a:ext cx="7200000" cy="1820053"/>
            <a:chOff x="2496000" y="4368235"/>
            <a:chExt cx="7200000" cy="1820053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675CC7FC-0EF4-FEC6-636B-FA06E68C6846}"/>
                </a:ext>
              </a:extLst>
            </p:cNvPr>
            <p:cNvGrpSpPr/>
            <p:nvPr/>
          </p:nvGrpSpPr>
          <p:grpSpPr>
            <a:xfrm>
              <a:off x="2496000" y="5108288"/>
              <a:ext cx="7200000" cy="1080000"/>
              <a:chOff x="2496000" y="4934856"/>
              <a:chExt cx="7200000" cy="1080000"/>
            </a:xfrm>
          </p:grpSpPr>
          <p:sp>
            <p:nvSpPr>
              <p:cNvPr id="13" name="Flèche : droite 12">
                <a:extLst>
                  <a:ext uri="{FF2B5EF4-FFF2-40B4-BE49-F238E27FC236}">
                    <a16:creationId xmlns:a16="http://schemas.microsoft.com/office/drawing/2014/main" id="{4BB03CC6-C492-9662-C6A8-3DF0DA1627B3}"/>
                  </a:ext>
                </a:extLst>
              </p:cNvPr>
              <p:cNvSpPr/>
              <p:nvPr/>
            </p:nvSpPr>
            <p:spPr>
              <a:xfrm>
                <a:off x="60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accent3">
                      <a:lumMod val="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Flèche : droite 13">
                <a:extLst>
                  <a:ext uri="{FF2B5EF4-FFF2-40B4-BE49-F238E27FC236}">
                    <a16:creationId xmlns:a16="http://schemas.microsoft.com/office/drawing/2014/main" id="{14B39F2C-FF60-F24F-E470-2D69EE28F9E5}"/>
                  </a:ext>
                </a:extLst>
              </p:cNvPr>
              <p:cNvSpPr/>
              <p:nvPr/>
            </p:nvSpPr>
            <p:spPr>
              <a:xfrm flipH="1">
                <a:off x="24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rgbClr val="FF0000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3E500F5D-35E0-F8AE-7E2B-90FC449EE0D0}"/>
                </a:ext>
              </a:extLst>
            </p:cNvPr>
            <p:cNvSpPr txBox="1"/>
            <p:nvPr/>
          </p:nvSpPr>
          <p:spPr>
            <a:xfrm>
              <a:off x="2699200" y="4438576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7FB0DEB-9618-3378-917A-8D972C10A313}"/>
                </a:ext>
              </a:extLst>
            </p:cNvPr>
            <p:cNvSpPr txBox="1"/>
            <p:nvPr/>
          </p:nvSpPr>
          <p:spPr>
            <a:xfrm>
              <a:off x="8911773" y="4368235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C52BDF3-25D2-C6D6-9A5B-F2CF8C5B1EA3}"/>
                </a:ext>
              </a:extLst>
            </p:cNvPr>
            <p:cNvSpPr txBox="1"/>
            <p:nvPr/>
          </p:nvSpPr>
          <p:spPr>
            <a:xfrm>
              <a:off x="3908871" y="4368235"/>
              <a:ext cx="4374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/>
                <a:t>Echelle d’avis positif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4B307C3-7610-DB85-AFE6-F11F63D9048F}"/>
                </a:ext>
              </a:extLst>
            </p:cNvPr>
            <p:cNvSpPr/>
            <p:nvPr/>
          </p:nvSpPr>
          <p:spPr>
            <a:xfrm>
              <a:off x="6025821" y="5128724"/>
              <a:ext cx="145143" cy="10213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C84E9C82-5E15-1089-0E72-A7EFBB6414A3}"/>
              </a:ext>
            </a:extLst>
          </p:cNvPr>
          <p:cNvSpPr txBox="1"/>
          <p:nvPr/>
        </p:nvSpPr>
        <p:spPr>
          <a:xfrm>
            <a:off x="5644662" y="6246145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9373D0-6AAB-DA8B-52FE-4A6DE7F05B00}"/>
              </a:ext>
            </a:extLst>
          </p:cNvPr>
          <p:cNvSpPr/>
          <p:nvPr/>
        </p:nvSpPr>
        <p:spPr>
          <a:xfrm>
            <a:off x="6703559" y="5137636"/>
            <a:ext cx="145143" cy="1021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space réservé du numéro de diapositive 27">
            <a:extLst>
              <a:ext uri="{FF2B5EF4-FFF2-40B4-BE49-F238E27FC236}">
                <a16:creationId xmlns:a16="http://schemas.microsoft.com/office/drawing/2014/main" id="{1F8C03DA-664A-9C7A-1BA3-5A883F94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13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3" name="Image 2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9D2FBF2E-B351-EC2D-2BE0-D3B1B8740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2734" y="1366564"/>
            <a:ext cx="1645761" cy="1645761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E385326D-B647-CC82-34E7-55BCEFAB9B39}"/>
              </a:ext>
            </a:extLst>
          </p:cNvPr>
          <p:cNvSpPr/>
          <p:nvPr/>
        </p:nvSpPr>
        <p:spPr>
          <a:xfrm>
            <a:off x="-687800" y="3655598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0D1ACC49-0610-6693-BAAA-77B7386B5D6F}"/>
              </a:ext>
            </a:extLst>
          </p:cNvPr>
          <p:cNvGrpSpPr/>
          <p:nvPr/>
        </p:nvGrpSpPr>
        <p:grpSpPr>
          <a:xfrm>
            <a:off x="9893998" y="-1003991"/>
            <a:ext cx="1098395" cy="9706354"/>
            <a:chOff x="9474407" y="248433"/>
            <a:chExt cx="1098395" cy="9706354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BAB142E6-5404-7E61-5FF9-1ADECE0EA70A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DC4B6E25-12BD-14AD-5355-C3767A4CDA21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FA4EB38F-81B0-DC6D-2253-ECA23BB3627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B349DCAC-B263-5439-C0A9-DF0A05984EF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474132E2-4282-8F58-5D24-59C28BC45C66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FF700876-C857-3CD8-D0B5-90EC0AC1A0F6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D1C86A6A-A520-D873-47A9-B525E7EC53F1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9954F16B-F098-5B9E-0604-244AAEBD6431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9DBE6714-CA0F-D5E1-EC9F-C551DCE9CDA0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9C463CE6-16D8-92A2-83F5-C1C8E0278DDC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49" name="Groupe 48">
                <a:extLst>
                  <a:ext uri="{FF2B5EF4-FFF2-40B4-BE49-F238E27FC236}">
                    <a16:creationId xmlns:a16="http://schemas.microsoft.com/office/drawing/2014/main" id="{33C3244A-198B-543B-7E9B-4B1EB755028A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4" name="Ellipse 53">
                  <a:extLst>
                    <a:ext uri="{FF2B5EF4-FFF2-40B4-BE49-F238E27FC236}">
                      <a16:creationId xmlns:a16="http://schemas.microsoft.com/office/drawing/2014/main" id="{FF5611B6-D0B9-709E-BD4C-0BFEB6DDFC18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A175FA27-4D61-4D22-F28F-67698097AFDA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2CEB14B6-5064-FCF3-98E7-7375B912BF4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0" name="Groupe 49">
                <a:extLst>
                  <a:ext uri="{FF2B5EF4-FFF2-40B4-BE49-F238E27FC236}">
                    <a16:creationId xmlns:a16="http://schemas.microsoft.com/office/drawing/2014/main" id="{75A93F17-131F-4E3B-BF60-7BD7E3839235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1" name="Ellipse 50">
                  <a:extLst>
                    <a:ext uri="{FF2B5EF4-FFF2-40B4-BE49-F238E27FC236}">
                      <a16:creationId xmlns:a16="http://schemas.microsoft.com/office/drawing/2014/main" id="{16B320FF-EB2E-4C86-646B-53369C6AAB9C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Ellipse 51">
                  <a:extLst>
                    <a:ext uri="{FF2B5EF4-FFF2-40B4-BE49-F238E27FC236}">
                      <a16:creationId xmlns:a16="http://schemas.microsoft.com/office/drawing/2014/main" id="{16F55324-48AB-20DB-B568-469FD8064AD0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E4F0C6C9-30A1-5C18-A98D-09C4F3E1F90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9207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7C842-DDBC-B5EF-42AD-74A35693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3D7EEC9-BE2E-4CFD-F7FC-D2A6B4D94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D1EEC30-858D-A1CE-3319-84916F8C6DF7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F0C7199-9003-4065-D366-D2872C29C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02" y="1456558"/>
            <a:ext cx="11296795" cy="5401383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B95F66-14F1-077B-B358-CBA6A6A0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14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6A0CD56-1A7C-CB5B-1037-7EBBA685E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0300" y="263764"/>
            <a:ext cx="6446921" cy="594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6404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BAAF6-290B-63B1-DCC6-135FF8C6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91CB22E5-9A16-FA2D-8185-130F6E14FB99}"/>
              </a:ext>
            </a:extLst>
          </p:cNvPr>
          <p:cNvSpPr/>
          <p:nvPr/>
        </p:nvSpPr>
        <p:spPr>
          <a:xfrm>
            <a:off x="-858407" y="-515954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FEA7571-011C-6335-CCCF-F6C5CB5B9F4A}"/>
              </a:ext>
            </a:extLst>
          </p:cNvPr>
          <p:cNvSpPr/>
          <p:nvPr/>
        </p:nvSpPr>
        <p:spPr>
          <a:xfrm>
            <a:off x="-1184376" y="2755598"/>
            <a:ext cx="1800000" cy="180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3550FF3-A8E4-5EA4-7689-FDDC073F0C88}"/>
              </a:ext>
            </a:extLst>
          </p:cNvPr>
          <p:cNvSpPr/>
          <p:nvPr/>
        </p:nvSpPr>
        <p:spPr>
          <a:xfrm>
            <a:off x="11354689" y="-534863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F87E2CB-3F67-BD4A-643B-2AFDF8B6CAB6}"/>
              </a:ext>
            </a:extLst>
          </p:cNvPr>
          <p:cNvSpPr/>
          <p:nvPr/>
        </p:nvSpPr>
        <p:spPr>
          <a:xfrm>
            <a:off x="-271559" y="5598000"/>
            <a:ext cx="2160000" cy="216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02704C8-F265-07CD-4810-3DED778AD638}"/>
              </a:ext>
            </a:extLst>
          </p:cNvPr>
          <p:cNvSpPr/>
          <p:nvPr/>
        </p:nvSpPr>
        <p:spPr>
          <a:xfrm>
            <a:off x="11273990" y="1933236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48F845D-BDBF-A10E-BA3C-75D43B6BFE35}"/>
              </a:ext>
            </a:extLst>
          </p:cNvPr>
          <p:cNvSpPr/>
          <p:nvPr/>
        </p:nvSpPr>
        <p:spPr>
          <a:xfrm>
            <a:off x="-2486023" y="1265137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548C8629-3FCD-48DA-63FB-1890F8FC4B64}"/>
              </a:ext>
            </a:extLst>
          </p:cNvPr>
          <p:cNvSpPr txBox="1">
            <a:spLocks/>
          </p:cNvSpPr>
          <p:nvPr/>
        </p:nvSpPr>
        <p:spPr>
          <a:xfrm>
            <a:off x="451814" y="263764"/>
            <a:ext cx="7153672" cy="10674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Opinion Publique</a:t>
            </a:r>
          </a:p>
        </p:txBody>
      </p:sp>
      <p:pic>
        <p:nvPicPr>
          <p:cNvPr id="5" name="Image 4" descr="Une image contenant Graphique, symbole, graphisme, Police&#10;&#10;Description générée automatiquement">
            <a:extLst>
              <a:ext uri="{FF2B5EF4-FFF2-40B4-BE49-F238E27FC236}">
                <a16:creationId xmlns:a16="http://schemas.microsoft.com/office/drawing/2014/main" id="{B95F508C-DCC9-AC32-9FBE-526325C37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370" y="3439145"/>
            <a:ext cx="2153733" cy="166914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F8912B0-0637-460F-3B67-18566C87CF82}"/>
              </a:ext>
            </a:extLst>
          </p:cNvPr>
          <p:cNvSpPr txBox="1"/>
          <p:nvPr/>
        </p:nvSpPr>
        <p:spPr>
          <a:xfrm>
            <a:off x="451814" y="1551477"/>
            <a:ext cx="6923315" cy="168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Nombre de Tweets récupéré</a:t>
            </a:r>
            <a:br>
              <a:rPr lang="fr-FR" sz="2800" dirty="0"/>
            </a:br>
            <a:r>
              <a:rPr lang="fr-FR" sz="2800" dirty="0"/>
              <a:t>Nombre de Tweets après second trie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62D240C-26D2-D846-19F5-A873A8DE9174}"/>
              </a:ext>
            </a:extLst>
          </p:cNvPr>
          <p:cNvSpPr txBox="1"/>
          <p:nvPr/>
        </p:nvSpPr>
        <p:spPr>
          <a:xfrm>
            <a:off x="6776131" y="1912446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2500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E08FDF0-B194-1AD0-DE3D-15954D9C7822}"/>
              </a:ext>
            </a:extLst>
          </p:cNvPr>
          <p:cNvSpPr txBox="1"/>
          <p:nvPr/>
        </p:nvSpPr>
        <p:spPr>
          <a:xfrm>
            <a:off x="6776131" y="2686724"/>
            <a:ext cx="189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2300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5A84064-16B4-A556-5582-A894A9044B18}"/>
              </a:ext>
            </a:extLst>
          </p:cNvPr>
          <p:cNvSpPr txBox="1"/>
          <p:nvPr/>
        </p:nvSpPr>
        <p:spPr>
          <a:xfrm>
            <a:off x="6324793" y="6275074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0,2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D6B3E1A-171B-94DA-E14D-89ADF5636574}"/>
              </a:ext>
            </a:extLst>
          </p:cNvPr>
          <p:cNvGrpSpPr/>
          <p:nvPr/>
        </p:nvGrpSpPr>
        <p:grpSpPr>
          <a:xfrm>
            <a:off x="2496000" y="4368235"/>
            <a:ext cx="7200000" cy="1820053"/>
            <a:chOff x="2496000" y="4368235"/>
            <a:chExt cx="7200000" cy="1820053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90009500-BD40-972F-5BFB-7B66FE5BA69A}"/>
                </a:ext>
              </a:extLst>
            </p:cNvPr>
            <p:cNvGrpSpPr/>
            <p:nvPr/>
          </p:nvGrpSpPr>
          <p:grpSpPr>
            <a:xfrm>
              <a:off x="2496000" y="5108288"/>
              <a:ext cx="7200000" cy="1080000"/>
              <a:chOff x="2496000" y="4934856"/>
              <a:chExt cx="7200000" cy="1080000"/>
            </a:xfrm>
          </p:grpSpPr>
          <p:sp>
            <p:nvSpPr>
              <p:cNvPr id="13" name="Flèche : droite 12">
                <a:extLst>
                  <a:ext uri="{FF2B5EF4-FFF2-40B4-BE49-F238E27FC236}">
                    <a16:creationId xmlns:a16="http://schemas.microsoft.com/office/drawing/2014/main" id="{39AFE2D9-BE1B-A5D2-5C59-B88A609C64B9}"/>
                  </a:ext>
                </a:extLst>
              </p:cNvPr>
              <p:cNvSpPr/>
              <p:nvPr/>
            </p:nvSpPr>
            <p:spPr>
              <a:xfrm>
                <a:off x="60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accent3">
                      <a:lumMod val="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Flèche : droite 13">
                <a:extLst>
                  <a:ext uri="{FF2B5EF4-FFF2-40B4-BE49-F238E27FC236}">
                    <a16:creationId xmlns:a16="http://schemas.microsoft.com/office/drawing/2014/main" id="{D9099D10-4FD3-5755-9A56-5CC400ECAA43}"/>
                  </a:ext>
                </a:extLst>
              </p:cNvPr>
              <p:cNvSpPr/>
              <p:nvPr/>
            </p:nvSpPr>
            <p:spPr>
              <a:xfrm flipH="1">
                <a:off x="2496000" y="4934856"/>
                <a:ext cx="3600000" cy="1080000"/>
              </a:xfrm>
              <a:prstGeom prst="rightArrow">
                <a:avLst/>
              </a:prstGeom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rgbClr val="FF0000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5414400-4F22-167A-0A93-CA633E83035B}"/>
                </a:ext>
              </a:extLst>
            </p:cNvPr>
            <p:cNvSpPr txBox="1"/>
            <p:nvPr/>
          </p:nvSpPr>
          <p:spPr>
            <a:xfrm>
              <a:off x="2699200" y="4438576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CDF86CC-AC20-6110-3F9F-4766F8BA358D}"/>
                </a:ext>
              </a:extLst>
            </p:cNvPr>
            <p:cNvSpPr txBox="1"/>
            <p:nvPr/>
          </p:nvSpPr>
          <p:spPr>
            <a:xfrm>
              <a:off x="8911773" y="4368235"/>
              <a:ext cx="5810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8713BD4-D685-50CD-5076-CAF19A8191FF}"/>
                </a:ext>
              </a:extLst>
            </p:cNvPr>
            <p:cNvSpPr txBox="1"/>
            <p:nvPr/>
          </p:nvSpPr>
          <p:spPr>
            <a:xfrm>
              <a:off x="3908871" y="4368235"/>
              <a:ext cx="4374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000" b="1" dirty="0"/>
                <a:t>Echelle d’avis positif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E5062B-F0F8-C71B-B641-F36CE8088137}"/>
                </a:ext>
              </a:extLst>
            </p:cNvPr>
            <p:cNvSpPr/>
            <p:nvPr/>
          </p:nvSpPr>
          <p:spPr>
            <a:xfrm>
              <a:off x="6025821" y="5128724"/>
              <a:ext cx="145143" cy="10213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3BD9E810-15B2-B3C2-E57E-4EF1516C51A3}"/>
              </a:ext>
            </a:extLst>
          </p:cNvPr>
          <p:cNvSpPr txBox="1"/>
          <p:nvPr/>
        </p:nvSpPr>
        <p:spPr>
          <a:xfrm>
            <a:off x="5644662" y="6246145"/>
            <a:ext cx="90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C1299A-3F6B-151A-0051-7877EE6670E8}"/>
              </a:ext>
            </a:extLst>
          </p:cNvPr>
          <p:cNvSpPr/>
          <p:nvPr/>
        </p:nvSpPr>
        <p:spPr>
          <a:xfrm>
            <a:off x="6703559" y="5137636"/>
            <a:ext cx="145143" cy="1021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space réservé du numéro de diapositive 27">
            <a:extLst>
              <a:ext uri="{FF2B5EF4-FFF2-40B4-BE49-F238E27FC236}">
                <a16:creationId xmlns:a16="http://schemas.microsoft.com/office/drawing/2014/main" id="{10DA85F4-C426-D38F-BEE8-ED1377E4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/>
              <a:t>15</a:t>
            </a:fld>
            <a:endParaRPr lang="en-US" sz="1500"/>
          </a:p>
        </p:txBody>
      </p:sp>
      <p:pic>
        <p:nvPicPr>
          <p:cNvPr id="3" name="Image 2" descr="Une image contenant symbole, blanc, ligne, Graphique&#10;&#10;Description générée automatiquement">
            <a:extLst>
              <a:ext uri="{FF2B5EF4-FFF2-40B4-BE49-F238E27FC236}">
                <a16:creationId xmlns:a16="http://schemas.microsoft.com/office/drawing/2014/main" id="{78154AC2-D38E-96FF-39B3-85DBFF823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2734" y="1366564"/>
            <a:ext cx="1645761" cy="1645761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7BBE1D51-02FE-8B64-E5D8-1917E4100CDD}"/>
              </a:ext>
            </a:extLst>
          </p:cNvPr>
          <p:cNvSpPr/>
          <p:nvPr/>
        </p:nvSpPr>
        <p:spPr>
          <a:xfrm>
            <a:off x="-687800" y="3655598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F324F91A-02E5-3E11-6A5A-47E99A874F57}"/>
              </a:ext>
            </a:extLst>
          </p:cNvPr>
          <p:cNvGrpSpPr/>
          <p:nvPr/>
        </p:nvGrpSpPr>
        <p:grpSpPr>
          <a:xfrm>
            <a:off x="9893998" y="-1003991"/>
            <a:ext cx="1098395" cy="9706354"/>
            <a:chOff x="9474407" y="248433"/>
            <a:chExt cx="1098395" cy="9706354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50BA49DA-D1DF-286F-6BFD-20C24BB3366F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CB279BE2-C618-767D-F7AD-E1D234514A66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CF3AD84A-CF70-348D-D3AF-4AF047FDDFB2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8AE93EDF-DFB1-53E3-AB99-624CDFCF5E1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3EF934BB-F078-3102-A344-13A89564ABF8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DB1BEDBA-2664-27E0-9DC5-56BECA321DAC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CC45FE67-1D72-0616-528E-9119655D4BC2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12E3361E-E02B-4608-87A9-EF57ACEE9C47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9DB1511F-BA69-7F2D-53E6-1B70AD1765A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923D2D6A-659B-6762-1A6E-B2AB4AF8BFA1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49" name="Groupe 48">
                <a:extLst>
                  <a:ext uri="{FF2B5EF4-FFF2-40B4-BE49-F238E27FC236}">
                    <a16:creationId xmlns:a16="http://schemas.microsoft.com/office/drawing/2014/main" id="{3F47D2A3-4FF9-F071-C148-682DB80FEE43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4" name="Ellipse 53">
                  <a:extLst>
                    <a:ext uri="{FF2B5EF4-FFF2-40B4-BE49-F238E27FC236}">
                      <a16:creationId xmlns:a16="http://schemas.microsoft.com/office/drawing/2014/main" id="{E2C20CB4-8C32-89CF-7692-336BC2C7821B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AA746139-BD80-DC33-E23F-0F07555D864C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960A95FF-13EF-AA8E-8850-6D16A297A925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0" name="Groupe 49">
                <a:extLst>
                  <a:ext uri="{FF2B5EF4-FFF2-40B4-BE49-F238E27FC236}">
                    <a16:creationId xmlns:a16="http://schemas.microsoft.com/office/drawing/2014/main" id="{C959796E-88AE-61B4-0548-4942175CEEB2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51" name="Ellipse 50">
                  <a:extLst>
                    <a:ext uri="{FF2B5EF4-FFF2-40B4-BE49-F238E27FC236}">
                      <a16:creationId xmlns:a16="http://schemas.microsoft.com/office/drawing/2014/main" id="{F2132F43-2A04-944A-F15F-C55168FF370A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Ellipse 51">
                  <a:extLst>
                    <a:ext uri="{FF2B5EF4-FFF2-40B4-BE49-F238E27FC236}">
                      <a16:creationId xmlns:a16="http://schemas.microsoft.com/office/drawing/2014/main" id="{CEF3D596-AA79-AA45-08A6-2E0DEC2E3261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EAD6AA61-95F2-D1B3-E4F9-58C6B8A1EADA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40655382"/>
      </p:ext>
    </p:extLst>
  </p:cSld>
  <p:clrMapOvr>
    <a:masterClrMapping/>
  </p:clrMapOvr>
  <p:transition spd="slow">
    <p:push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A6A9C-92EF-D41D-5CDA-EAB643D6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DDC3BF4-BFE3-E4E5-2491-FB1D0CDEE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7AE6DA7F-B192-7660-BCB4-3F232F2B884E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EA5E79B-5768-4DE1-7D16-94FF5FE3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16</a:t>
            </a:fld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964F10-BAE8-34F5-9CE8-65DF7F02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271" y="270055"/>
            <a:ext cx="6446921" cy="594977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9912768-4117-BAFD-E2C2-261D1D5BE61B}"/>
              </a:ext>
            </a:extLst>
          </p:cNvPr>
          <p:cNvSpPr txBox="1"/>
          <p:nvPr/>
        </p:nvSpPr>
        <p:spPr>
          <a:xfrm>
            <a:off x="449807" y="3330414"/>
            <a:ext cx="4845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Connaissance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  <a:r>
              <a:rPr lang="fr-FR" dirty="0"/>
              <a:t> mais avec certaines </a:t>
            </a:r>
            <a:r>
              <a:rPr lang="fr-FR" dirty="0">
                <a:solidFill>
                  <a:srgbClr val="FF0000"/>
                </a:solidFill>
              </a:rPr>
              <a:t>confusions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4526FEB-643A-1260-4B1F-6C67CB6AD343}"/>
              </a:ext>
            </a:extLst>
          </p:cNvPr>
          <p:cNvSpPr txBox="1"/>
          <p:nvPr/>
        </p:nvSpPr>
        <p:spPr>
          <a:xfrm>
            <a:off x="449807" y="5481425"/>
            <a:ext cx="377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Explication d’une pratique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DDC4F591-75FB-C8D5-AE5F-0E1A0C750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712074"/>
              </p:ext>
            </p:extLst>
          </p:nvPr>
        </p:nvGraphicFramePr>
        <p:xfrm>
          <a:off x="482599" y="4253449"/>
          <a:ext cx="48126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336">
                  <a:extLst>
                    <a:ext uri="{9D8B030D-6E8A-4147-A177-3AD203B41FA5}">
                      <a16:colId xmlns:a16="http://schemas.microsoft.com/office/drawing/2014/main" val="3869489970"/>
                    </a:ext>
                  </a:extLst>
                </a:gridCol>
                <a:gridCol w="2406336">
                  <a:extLst>
                    <a:ext uri="{9D8B030D-6E8A-4147-A177-3AD203B41FA5}">
                      <a16:colId xmlns:a16="http://schemas.microsoft.com/office/drawing/2014/main" val="386343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Méthode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4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Scrum, Kanban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TDD, CI, CD etc…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624742"/>
                  </a:ext>
                </a:extLst>
              </a:tr>
            </a:tbl>
          </a:graphicData>
        </a:graphic>
      </p:graphicFrame>
      <p:sp>
        <p:nvSpPr>
          <p:cNvPr id="13" name="Titre 1">
            <a:extLst>
              <a:ext uri="{FF2B5EF4-FFF2-40B4-BE49-F238E27FC236}">
                <a16:creationId xmlns:a16="http://schemas.microsoft.com/office/drawing/2014/main" id="{21581A0C-FE1E-D76E-9B96-70759AFB88C2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Compréhension</a:t>
            </a:r>
          </a:p>
        </p:txBody>
      </p:sp>
    </p:spTree>
    <p:extLst>
      <p:ext uri="{BB962C8B-B14F-4D97-AF65-F5344CB8AC3E}">
        <p14:creationId xmlns:p14="http://schemas.microsoft.com/office/powerpoint/2010/main" val="312251036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87983-743B-DD98-69BB-CFE7D6822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51E58B-85B1-AADB-5DE3-B74AC6A01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A5956-1330-4F29-57E2-30A488DC1C8E}"/>
              </a:ext>
            </a:extLst>
          </p:cNvPr>
          <p:cNvSpPr/>
          <p:nvPr/>
        </p:nvSpPr>
        <p:spPr>
          <a:xfrm>
            <a:off x="5692629" y="1733909"/>
            <a:ext cx="5582093" cy="9630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5BDD5B2-8245-AED0-032D-3028688070A2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CDBFF18-0DAB-D024-637C-99C23974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17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FE79CC91-7473-BA28-62B2-CC1FE12C7B68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Evaluation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6CD623A-EF78-B240-9C53-3C4BF510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987" y="350562"/>
            <a:ext cx="5476957" cy="61883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E911528-5805-7DB0-D439-5FF9760935F8}"/>
              </a:ext>
            </a:extLst>
          </p:cNvPr>
          <p:cNvSpPr txBox="1"/>
          <p:nvPr/>
        </p:nvSpPr>
        <p:spPr>
          <a:xfrm>
            <a:off x="5800484" y="1834324"/>
            <a:ext cx="5366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tx2"/>
                </a:solidFill>
                <a:ea typeface="Arial Unicode MS"/>
              </a:rPr>
              <a:t>B</a:t>
            </a:r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esoins des clients</a:t>
            </a:r>
            <a:r>
              <a:rPr lang="en-US" sz="1800" dirty="0">
                <a:solidFill>
                  <a:schemeClr val="tx2"/>
                </a:solidFill>
                <a:effectLst/>
                <a:ea typeface="Arial Unicode MS"/>
              </a:rPr>
              <a:t>, les </a:t>
            </a:r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objectifs commerciaux</a:t>
            </a:r>
            <a:r>
              <a:rPr lang="en-US" sz="1800" dirty="0">
                <a:solidFill>
                  <a:schemeClr val="tx2"/>
                </a:solidFill>
                <a:effectLst/>
                <a:ea typeface="Arial Unicode MS"/>
              </a:rPr>
              <a:t>, et les </a:t>
            </a:r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rétrospectives.</a:t>
            </a:r>
            <a:b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</a:b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6" name="Image 5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6D745BD0-850E-20DB-CBB1-BA91B5B50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283" y="1762117"/>
            <a:ext cx="424823" cy="4248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13BBE5-61AB-E87A-8B5B-5980E449A62A}"/>
              </a:ext>
            </a:extLst>
          </p:cNvPr>
          <p:cNvSpPr/>
          <p:nvPr/>
        </p:nvSpPr>
        <p:spPr>
          <a:xfrm>
            <a:off x="5132398" y="904997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EFCD054-E852-688C-3D12-88229C907323}"/>
              </a:ext>
            </a:extLst>
          </p:cNvPr>
          <p:cNvSpPr txBox="1"/>
          <p:nvPr/>
        </p:nvSpPr>
        <p:spPr>
          <a:xfrm>
            <a:off x="5692629" y="908996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Comment évaluer la valeur d'une fonctionnalité ?</a:t>
            </a:r>
            <a:b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</a:br>
            <a:endParaRPr lang="fr-FR" i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893D6B-4B7B-23C0-C596-040A060E9DDB}"/>
              </a:ext>
            </a:extLst>
          </p:cNvPr>
          <p:cNvSpPr/>
          <p:nvPr/>
        </p:nvSpPr>
        <p:spPr>
          <a:xfrm>
            <a:off x="5692629" y="3911988"/>
            <a:ext cx="5582093" cy="10759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7" name="Image 16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E3F0667F-7EE7-D225-B59B-43D5238B3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283" y="3940196"/>
            <a:ext cx="424823" cy="42482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76266D5-4122-3494-D780-E2CAECA73972}"/>
              </a:ext>
            </a:extLst>
          </p:cNvPr>
          <p:cNvSpPr/>
          <p:nvPr/>
        </p:nvSpPr>
        <p:spPr>
          <a:xfrm>
            <a:off x="5132398" y="3083076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02B45F5-BA40-8AA4-AD5C-B4CCA74CA302}"/>
              </a:ext>
            </a:extLst>
          </p:cNvPr>
          <p:cNvSpPr txBox="1"/>
          <p:nvPr/>
        </p:nvSpPr>
        <p:spPr>
          <a:xfrm>
            <a:off x="5692629" y="3087075"/>
            <a:ext cx="558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tx2"/>
                </a:solidFill>
                <a:effectLst/>
                <a:ea typeface="Arial Unicode MS"/>
              </a:rPr>
              <a:t>Comment organiser une équipe Scrum ?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735F122-6828-1073-D439-6F9829DA2AE0}"/>
              </a:ext>
            </a:extLst>
          </p:cNvPr>
          <p:cNvSpPr txBox="1"/>
          <p:nvPr/>
        </p:nvSpPr>
        <p:spPr>
          <a:xfrm>
            <a:off x="5793125" y="4064596"/>
            <a:ext cx="5366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Définition de rôle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Création de </a:t>
            </a:r>
            <a:r>
              <a:rPr lang="fr-FR" dirty="0" err="1">
                <a:solidFill>
                  <a:schemeClr val="tx2"/>
                </a:solidFill>
              </a:rPr>
              <a:t>product</a:t>
            </a:r>
            <a:r>
              <a:rPr lang="fr-FR" dirty="0">
                <a:solidFill>
                  <a:schemeClr val="tx2"/>
                </a:solidFill>
              </a:rPr>
              <a:t> </a:t>
            </a:r>
            <a:r>
              <a:rPr lang="fr-FR" dirty="0" err="1">
                <a:solidFill>
                  <a:schemeClr val="tx2"/>
                </a:solidFill>
              </a:rPr>
              <a:t>backlog</a:t>
            </a:r>
            <a:endParaRPr lang="fr-FR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tx2"/>
                </a:solidFill>
              </a:rPr>
              <a:t>Daily stands up meeting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3FD217B7-4275-0489-1023-E49EFC2CC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139" y="7287760"/>
            <a:ext cx="6446921" cy="594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60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148E-70BD-CAD6-FD2D-D978B316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E7831F8-C1A9-D19F-F457-E2D614452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01E06841-BC24-67A8-626F-B683B75CBED7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312CAC5-A065-036F-39EE-B0C71761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18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FBCE7D-B2A7-C746-3BAD-10E08BA7CEFB}"/>
              </a:ext>
            </a:extLst>
          </p:cNvPr>
          <p:cNvSpPr txBox="1"/>
          <p:nvPr/>
        </p:nvSpPr>
        <p:spPr>
          <a:xfrm>
            <a:off x="214857" y="4746442"/>
            <a:ext cx="484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Structuration de User Story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D863AC2-6374-C490-9B4C-31F2B7EA9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530" y="333490"/>
            <a:ext cx="4439270" cy="610637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71124370-9974-9023-A3DA-166DD7200143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13" name="Graphique 12" descr="Groupe avec un remplissage uni">
            <a:extLst>
              <a:ext uri="{FF2B5EF4-FFF2-40B4-BE49-F238E27FC236}">
                <a16:creationId xmlns:a16="http://schemas.microsoft.com/office/drawing/2014/main" id="{C71033CC-E8DD-A8AA-AEB9-94CF8B05A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2775200"/>
            <a:ext cx="914400" cy="9144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95BB08F-5FBC-F9FD-6893-46810C6F7811}"/>
              </a:ext>
            </a:extLst>
          </p:cNvPr>
          <p:cNvSpPr txBox="1"/>
          <p:nvPr/>
        </p:nvSpPr>
        <p:spPr>
          <a:xfrm>
            <a:off x="0" y="3583187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137 User story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C0919326-FC32-B592-6DD5-47DF5F368116}"/>
              </a:ext>
            </a:extLst>
          </p:cNvPr>
          <p:cNvSpPr/>
          <p:nvPr/>
        </p:nvSpPr>
        <p:spPr>
          <a:xfrm>
            <a:off x="1567021" y="2721919"/>
            <a:ext cx="1752610" cy="1020962"/>
          </a:xfrm>
          <a:prstGeom prst="rightArrow">
            <a:avLst/>
          </a:prstGeom>
          <a:solidFill>
            <a:srgbClr val="74AA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A47FAED2-9AF3-57C5-E6E1-85DD1C068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31" y="3019988"/>
            <a:ext cx="424823" cy="424823"/>
          </a:xfrm>
          <a:prstGeom prst="rect">
            <a:avLst/>
          </a:prstGeom>
        </p:spPr>
      </p:pic>
      <p:pic>
        <p:nvPicPr>
          <p:cNvPr id="20" name="Graphique 19" descr="Liste avec un remplissage uni">
            <a:extLst>
              <a:ext uri="{FF2B5EF4-FFF2-40B4-BE49-F238E27FC236}">
                <a16:creationId xmlns:a16="http://schemas.microsoft.com/office/drawing/2014/main" id="{0347C350-80CB-8AE9-AEEA-92F18A8487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9520" y="2674270"/>
            <a:ext cx="1021430" cy="102143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798E9ED-6869-DFE1-77B0-EE2479C041F2}"/>
              </a:ext>
            </a:extLst>
          </p:cNvPr>
          <p:cNvSpPr txBox="1"/>
          <p:nvPr/>
        </p:nvSpPr>
        <p:spPr>
          <a:xfrm>
            <a:off x="3073447" y="3645029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User Activity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3DDB2C4-381E-8B0C-9769-5CFCEDA8CC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7191490"/>
            <a:ext cx="5476957" cy="61883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ED1AD20-39EE-41AB-2317-CEE779F1D482}"/>
              </a:ext>
            </a:extLst>
          </p:cNvPr>
          <p:cNvSpPr txBox="1"/>
          <p:nvPr/>
        </p:nvSpPr>
        <p:spPr>
          <a:xfrm>
            <a:off x="966787" y="5473004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i="1" dirty="0">
                <a:solidFill>
                  <a:schemeClr val="tx2"/>
                </a:solidFill>
                <a:effectLst/>
                <a:ea typeface="Arial Unicode MS"/>
              </a:rPr>
              <a:t>Avec quelles user stories commenceriez-vous le développement ?</a:t>
            </a:r>
            <a:endParaRPr lang="fr-FR" i="1" dirty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93B16-BCDE-CEE5-CA83-9124F195B9FB}"/>
              </a:ext>
            </a:extLst>
          </p:cNvPr>
          <p:cNvSpPr/>
          <p:nvPr/>
        </p:nvSpPr>
        <p:spPr>
          <a:xfrm>
            <a:off x="320988" y="5557715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701446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357BC-44A2-5947-F17B-58CDD41C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1BF3C00-459B-BDA4-5A4C-78D1620E7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87D116F-8904-5FF7-E851-54E058D7070C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9BAD2E5-9529-4F68-33C4-7A531FB5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19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6C98794-BDF0-A43F-E9D4-7C14812DB87B}"/>
              </a:ext>
            </a:extLst>
          </p:cNvPr>
          <p:cNvSpPr txBox="1"/>
          <p:nvPr/>
        </p:nvSpPr>
        <p:spPr>
          <a:xfrm>
            <a:off x="214857" y="4746442"/>
            <a:ext cx="484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Structuration de User Story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OK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A8C91E2-A556-433E-7AD7-D69C86DA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530" y="333490"/>
            <a:ext cx="4439270" cy="610637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8E5666C6-7FEA-AA85-BFD5-7145DE83CCC2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13" name="Graphique 12" descr="Groupe avec un remplissage uni">
            <a:extLst>
              <a:ext uri="{FF2B5EF4-FFF2-40B4-BE49-F238E27FC236}">
                <a16:creationId xmlns:a16="http://schemas.microsoft.com/office/drawing/2014/main" id="{250A827A-F98A-48EA-313E-4DF3AA83F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2775200"/>
            <a:ext cx="914400" cy="9144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FC18F8C-715C-2B1F-21BB-A25D9A13B7A3}"/>
              </a:ext>
            </a:extLst>
          </p:cNvPr>
          <p:cNvSpPr txBox="1"/>
          <p:nvPr/>
        </p:nvSpPr>
        <p:spPr>
          <a:xfrm>
            <a:off x="0" y="3583187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137 User story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7089EA92-596F-F941-F3C1-AC18905E19D6}"/>
              </a:ext>
            </a:extLst>
          </p:cNvPr>
          <p:cNvSpPr/>
          <p:nvPr/>
        </p:nvSpPr>
        <p:spPr>
          <a:xfrm>
            <a:off x="1567021" y="2721919"/>
            <a:ext cx="1752610" cy="1020962"/>
          </a:xfrm>
          <a:prstGeom prst="rightArrow">
            <a:avLst/>
          </a:prstGeom>
          <a:solidFill>
            <a:srgbClr val="74AA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C878472A-3B22-A5F4-6C7F-450B90AB5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31" y="3019988"/>
            <a:ext cx="424823" cy="424823"/>
          </a:xfrm>
          <a:prstGeom prst="rect">
            <a:avLst/>
          </a:prstGeom>
        </p:spPr>
      </p:pic>
      <p:pic>
        <p:nvPicPr>
          <p:cNvPr id="20" name="Graphique 19" descr="Liste avec un remplissage uni">
            <a:extLst>
              <a:ext uri="{FF2B5EF4-FFF2-40B4-BE49-F238E27FC236}">
                <a16:creationId xmlns:a16="http://schemas.microsoft.com/office/drawing/2014/main" id="{529CF566-6A92-1343-B7CA-AE066808BA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9520" y="2674270"/>
            <a:ext cx="1021430" cy="102143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9B0F87CD-1092-CBD7-B287-C9D5F06ACCD3}"/>
              </a:ext>
            </a:extLst>
          </p:cNvPr>
          <p:cNvSpPr txBox="1"/>
          <p:nvPr/>
        </p:nvSpPr>
        <p:spPr>
          <a:xfrm>
            <a:off x="3073447" y="3645029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User Activity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545C4C1-C69C-38A2-4AC6-2DAC507DAB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7191490"/>
            <a:ext cx="5476957" cy="61883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2D9CC11-49F3-5BB5-3446-6202719FEB92}"/>
              </a:ext>
            </a:extLst>
          </p:cNvPr>
          <p:cNvSpPr txBox="1"/>
          <p:nvPr/>
        </p:nvSpPr>
        <p:spPr>
          <a:xfrm>
            <a:off x="966787" y="5585460"/>
            <a:ext cx="558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tx2"/>
                </a:solidFill>
              </a:rPr>
              <a:t>Comment organiserais-tu les user stories 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91D171-5ACF-9E70-2189-1DFD89BBD650}"/>
              </a:ext>
            </a:extLst>
          </p:cNvPr>
          <p:cNvSpPr/>
          <p:nvPr/>
        </p:nvSpPr>
        <p:spPr>
          <a:xfrm>
            <a:off x="320988" y="5557715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111014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0E05D-ED53-03C7-C422-CBDF72D4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C9F7EBE-1E33-2724-AEF8-46BC228DD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2BBD6-BF06-5921-5D45-A87258CEDE3A}"/>
              </a:ext>
            </a:extLst>
          </p:cNvPr>
          <p:cNvSpPr/>
          <p:nvPr/>
        </p:nvSpPr>
        <p:spPr>
          <a:xfrm>
            <a:off x="5692629" y="1733909"/>
            <a:ext cx="5582093" cy="948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A32FB52-CFFE-1402-A1A6-5C7EE9AAC93E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3983027" cy="192317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Tests des</a:t>
            </a:r>
            <a:br>
              <a:rPr lang="fr-FR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capacités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CF3C24F-DB51-C893-EB71-CD5944CD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20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17A687-F9C5-F34B-8481-1B5F273ED962}"/>
              </a:ext>
            </a:extLst>
          </p:cNvPr>
          <p:cNvSpPr txBox="1"/>
          <p:nvPr/>
        </p:nvSpPr>
        <p:spPr>
          <a:xfrm>
            <a:off x="5692630" y="902186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Fournis mois les articles scientifiques sur lesquels tu as basé tes réponses.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D6BD5CD-8A10-21B4-0A6A-F05F3A043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530" y="7107973"/>
            <a:ext cx="4439270" cy="610637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67DB8554-B67C-71A3-6EF6-9BEDAAA94739}"/>
              </a:ext>
            </a:extLst>
          </p:cNvPr>
          <p:cNvSpPr txBox="1">
            <a:spLocks/>
          </p:cNvSpPr>
          <p:nvPr/>
        </p:nvSpPr>
        <p:spPr>
          <a:xfrm>
            <a:off x="449807" y="2163230"/>
            <a:ext cx="4227669" cy="5337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fr-FR" sz="3000" dirty="0">
                <a:solidFill>
                  <a:schemeClr val="accent5">
                    <a:lumMod val="75000"/>
                  </a:schemeClr>
                </a:solidFill>
              </a:rPr>
              <a:t>Références scientifiques</a:t>
            </a:r>
          </a:p>
        </p:txBody>
      </p:sp>
      <p:pic>
        <p:nvPicPr>
          <p:cNvPr id="18" name="Image 17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8ED86F74-04F0-559A-522A-D5EE397CF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959" y="1870059"/>
            <a:ext cx="424823" cy="4248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A083A9-8B00-F971-F6B7-566BE7331294}"/>
              </a:ext>
            </a:extLst>
          </p:cNvPr>
          <p:cNvSpPr/>
          <p:nvPr/>
        </p:nvSpPr>
        <p:spPr>
          <a:xfrm>
            <a:off x="5099074" y="1012939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AEE2E1B-8ACD-6219-8EBC-E87EDBB5AF95}"/>
              </a:ext>
            </a:extLst>
          </p:cNvPr>
          <p:cNvSpPr txBox="1"/>
          <p:nvPr/>
        </p:nvSpPr>
        <p:spPr>
          <a:xfrm>
            <a:off x="5692629" y="1870059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Voici l’article </a:t>
            </a:r>
            <a:r>
              <a:rPr lang="fr-FR" dirty="0">
                <a:solidFill>
                  <a:srgbClr val="FF0000"/>
                </a:solidFill>
              </a:rPr>
              <a:t>Faux Article </a:t>
            </a:r>
            <a:r>
              <a:rPr lang="fr-FR" dirty="0"/>
              <a:t>écrit par </a:t>
            </a:r>
            <a:r>
              <a:rPr lang="fr-FR" dirty="0">
                <a:solidFill>
                  <a:srgbClr val="FF0000"/>
                </a:solidFill>
              </a:rPr>
              <a:t>Inconnu </a:t>
            </a:r>
            <a:r>
              <a:rPr lang="fr-FR" dirty="0"/>
              <a:t>sur lequel je me suis basé.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79CCE1-1F8B-AFBF-36E6-48C2CABD68F8}"/>
              </a:ext>
            </a:extLst>
          </p:cNvPr>
          <p:cNvSpPr txBox="1"/>
          <p:nvPr/>
        </p:nvSpPr>
        <p:spPr>
          <a:xfrm>
            <a:off x="5692629" y="4256335"/>
            <a:ext cx="57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Article introuvable ou inexistant</a:t>
            </a:r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4FBA123A-6915-AEE5-88D5-CDD673387824}"/>
              </a:ext>
            </a:extLst>
          </p:cNvPr>
          <p:cNvSpPr/>
          <p:nvPr/>
        </p:nvSpPr>
        <p:spPr>
          <a:xfrm>
            <a:off x="8078233" y="2848867"/>
            <a:ext cx="810883" cy="1157495"/>
          </a:xfrm>
          <a:prstGeom prst="downArrow">
            <a:avLst/>
          </a:prstGeom>
          <a:solidFill>
            <a:srgbClr val="D63B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B4BD66A-D559-80FD-A958-C75A685EF608}"/>
              </a:ext>
            </a:extLst>
          </p:cNvPr>
          <p:cNvSpPr txBox="1"/>
          <p:nvPr/>
        </p:nvSpPr>
        <p:spPr>
          <a:xfrm>
            <a:off x="586596" y="3157268"/>
            <a:ext cx="2769079" cy="37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5A2B612-085D-7CA0-C971-0E30230DEB6D}"/>
              </a:ext>
            </a:extLst>
          </p:cNvPr>
          <p:cNvSpPr txBox="1"/>
          <p:nvPr/>
        </p:nvSpPr>
        <p:spPr>
          <a:xfrm>
            <a:off x="829371" y="3167498"/>
            <a:ext cx="301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ChatGPT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hallucine</a:t>
            </a:r>
          </a:p>
        </p:txBody>
      </p:sp>
    </p:spTree>
    <p:extLst>
      <p:ext uri="{BB962C8B-B14F-4D97-AF65-F5344CB8AC3E}">
        <p14:creationId xmlns:p14="http://schemas.microsoft.com/office/powerpoint/2010/main" val="1680007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518D7-0337-B213-6EF2-1F85E42F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5D3BB3E-79B1-5981-1FF0-73CFC5F15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EA8C73F-C9C9-3EA2-6767-E873E8E0AF70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11254232" cy="1923176"/>
          </a:xfrm>
          <a:prstGeom prst="rect">
            <a:avLst/>
          </a:prstGeom>
          <a:solidFill>
            <a:srgbClr val="E7E5D9"/>
          </a:solidFill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DFAA25A-7816-6C7B-145E-5968ADE9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21</a:t>
            </a:fld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510E163-3AF8-0081-0CC5-33538F988742}"/>
              </a:ext>
            </a:extLst>
          </p:cNvPr>
          <p:cNvSpPr txBox="1"/>
          <p:nvPr/>
        </p:nvSpPr>
        <p:spPr>
          <a:xfrm>
            <a:off x="586596" y="3157268"/>
            <a:ext cx="2769079" cy="37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A7875BC-1CE7-5F73-220F-5EFEC84AD4AC}"/>
              </a:ext>
            </a:extLst>
          </p:cNvPr>
          <p:cNvGrpSpPr/>
          <p:nvPr/>
        </p:nvGrpSpPr>
        <p:grpSpPr>
          <a:xfrm>
            <a:off x="1355853" y="1489077"/>
            <a:ext cx="8847690" cy="4867273"/>
            <a:chOff x="1355853" y="1489077"/>
            <a:chExt cx="8847690" cy="4867273"/>
          </a:xfrm>
        </p:grpSpPr>
        <p:pic>
          <p:nvPicPr>
            <p:cNvPr id="4" name="Image 3" descr="Une image contenant mammifère, chat domestique, Chats petite et moyenne taille, Félidés&#10;&#10;Le contenu généré par l’IA peut être incorrect.">
              <a:extLst>
                <a:ext uri="{FF2B5EF4-FFF2-40B4-BE49-F238E27FC236}">
                  <a16:creationId xmlns:a16="http://schemas.microsoft.com/office/drawing/2014/main" id="{7B4AEBED-BBD0-DDC6-7E37-61BA3861E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7164" y="1625601"/>
              <a:ext cx="7763529" cy="43669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31DAF7-B1D6-AC26-F3B8-1C9B3F150246}"/>
                </a:ext>
              </a:extLst>
            </p:cNvPr>
            <p:cNvSpPr/>
            <p:nvPr/>
          </p:nvSpPr>
          <p:spPr>
            <a:xfrm>
              <a:off x="8374380" y="1557338"/>
              <a:ext cx="1829163" cy="4503509"/>
            </a:xfrm>
            <a:prstGeom prst="rect">
              <a:avLst/>
            </a:prstGeom>
            <a:solidFill>
              <a:srgbClr val="E7E5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9D237C-DFDB-F5F9-C6B7-612B9CC644C8}"/>
                </a:ext>
              </a:extLst>
            </p:cNvPr>
            <p:cNvSpPr/>
            <p:nvPr/>
          </p:nvSpPr>
          <p:spPr>
            <a:xfrm>
              <a:off x="1355853" y="1489077"/>
              <a:ext cx="2769079" cy="4867273"/>
            </a:xfrm>
            <a:prstGeom prst="rect">
              <a:avLst/>
            </a:prstGeom>
            <a:solidFill>
              <a:srgbClr val="E7E5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9" name="Image 8" descr="Une image contenant Chats petite et moyenne taille, chat, mammifère, Félidés&#10;&#10;Le contenu généré par l’IA peut être incorrect.">
            <a:extLst>
              <a:ext uri="{FF2B5EF4-FFF2-40B4-BE49-F238E27FC236}">
                <a16:creationId xmlns:a16="http://schemas.microsoft.com/office/drawing/2014/main" id="{2EE69B44-74CA-9405-7A59-FAC7333A1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488" y="1557338"/>
            <a:ext cx="4773767" cy="4467280"/>
          </a:xfrm>
          <a:prstGeom prst="rect">
            <a:avLst/>
          </a:prstGeom>
        </p:spPr>
      </p:pic>
      <p:grpSp>
        <p:nvGrpSpPr>
          <p:cNvPr id="28" name="Groupe 27">
            <a:extLst>
              <a:ext uri="{FF2B5EF4-FFF2-40B4-BE49-F238E27FC236}">
                <a16:creationId xmlns:a16="http://schemas.microsoft.com/office/drawing/2014/main" id="{24E1FAEE-82DB-E98D-C088-D81F04D05BAD}"/>
              </a:ext>
            </a:extLst>
          </p:cNvPr>
          <p:cNvGrpSpPr/>
          <p:nvPr/>
        </p:nvGrpSpPr>
        <p:grpSpPr>
          <a:xfrm>
            <a:off x="1539512" y="681037"/>
            <a:ext cx="9544050" cy="5572097"/>
            <a:chOff x="1539512" y="681037"/>
            <a:chExt cx="9544050" cy="5572097"/>
          </a:xfrm>
        </p:grpSpPr>
        <p:pic>
          <p:nvPicPr>
            <p:cNvPr id="25" name="Image 24" descr="Une image contenant mammifère, chat, chat domestique, Chats petite et moyenne taille&#10;&#10;Le contenu généré par l’IA peut être incorrect.">
              <a:extLst>
                <a:ext uri="{FF2B5EF4-FFF2-40B4-BE49-F238E27FC236}">
                  <a16:creationId xmlns:a16="http://schemas.microsoft.com/office/drawing/2014/main" id="{629B7EF4-064E-17B8-C8DA-6B06095C1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9375" y="681037"/>
              <a:ext cx="4124325" cy="5495925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3917650D-02EB-ACEE-59BC-08DD490C97A8}"/>
                </a:ext>
              </a:extLst>
            </p:cNvPr>
            <p:cNvSpPr txBox="1"/>
            <p:nvPr/>
          </p:nvSpPr>
          <p:spPr>
            <a:xfrm>
              <a:off x="1539512" y="5391360"/>
              <a:ext cx="954405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000" b="1" dirty="0"/>
                <a:t>Notre tête en lisant l’article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3C71ED59-6B10-7D6E-6F81-AF6ADA445F6A}"/>
              </a:ext>
            </a:extLst>
          </p:cNvPr>
          <p:cNvGrpSpPr/>
          <p:nvPr/>
        </p:nvGrpSpPr>
        <p:grpSpPr>
          <a:xfrm>
            <a:off x="1423504" y="1552275"/>
            <a:ext cx="9544050" cy="5034845"/>
            <a:chOff x="1422346" y="1572052"/>
            <a:chExt cx="9544050" cy="5034845"/>
          </a:xfrm>
        </p:grpSpPr>
        <p:pic>
          <p:nvPicPr>
            <p:cNvPr id="33" name="Image 32" descr="Une image contenant chat, mur, intérieur, Félidés&#10;&#10;Le contenu généré par l’IA peut être incorrect.">
              <a:extLst>
                <a:ext uri="{FF2B5EF4-FFF2-40B4-BE49-F238E27FC236}">
                  <a16:creationId xmlns:a16="http://schemas.microsoft.com/office/drawing/2014/main" id="{7FEBBF6F-7F72-8ACE-109A-0739754BF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8" t="19375" b="34939"/>
            <a:stretch/>
          </p:blipFill>
          <p:spPr>
            <a:xfrm>
              <a:off x="4328069" y="1572052"/>
              <a:ext cx="3501717" cy="3505100"/>
            </a:xfrm>
            <a:prstGeom prst="rect">
              <a:avLst/>
            </a:prstGeom>
          </p:spPr>
        </p:pic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0C7A7D7C-97E4-B649-4E8F-B957A4D08350}"/>
                </a:ext>
              </a:extLst>
            </p:cNvPr>
            <p:cNvSpPr txBox="1"/>
            <p:nvPr/>
          </p:nvSpPr>
          <p:spPr>
            <a:xfrm>
              <a:off x="1422346" y="4975681"/>
              <a:ext cx="954405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000" b="1" dirty="0"/>
                <a:t>Ecouter la conclusion plutôt que de regarder les chats</a:t>
              </a:r>
            </a:p>
          </p:txBody>
        </p:sp>
      </p:grpSp>
      <p:pic>
        <p:nvPicPr>
          <p:cNvPr id="40" name="Image 39" descr="Une image contenant mammifère, Chats petite et moyenne taille, Félidés, intérieur&#10;&#10;Le contenu généré par l’IA peut être incorrect.">
            <a:extLst>
              <a:ext uri="{FF2B5EF4-FFF2-40B4-BE49-F238E27FC236}">
                <a16:creationId xmlns:a16="http://schemas.microsoft.com/office/drawing/2014/main" id="{9022F581-A45A-02EA-968B-3BD5EE8484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504" y="3314700"/>
            <a:ext cx="1380656" cy="1380656"/>
          </a:xfrm>
          <a:prstGeom prst="rect">
            <a:avLst/>
          </a:prstGeom>
        </p:spPr>
      </p:pic>
      <p:pic>
        <p:nvPicPr>
          <p:cNvPr id="52" name="Image 51" descr="Une image contenant mammifère, Chats petite et moyenne taille, Félidés, intérieur&#10;&#10;Le contenu généré par l’IA peut être incorrect.">
            <a:extLst>
              <a:ext uri="{FF2B5EF4-FFF2-40B4-BE49-F238E27FC236}">
                <a16:creationId xmlns:a16="http://schemas.microsoft.com/office/drawing/2014/main" id="{09CEB5EA-8CFD-110B-1B40-82F27BFE64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91255" y="1699191"/>
            <a:ext cx="1380656" cy="138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208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61E08-DC1F-7FAC-8435-7095F464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702D054-F65E-B05A-1749-22B79AED9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73A9262-8EB0-DF84-A452-715AA1D87298}"/>
              </a:ext>
            </a:extLst>
          </p:cNvPr>
          <p:cNvSpPr txBox="1">
            <a:spLocks/>
          </p:cNvSpPr>
          <p:nvPr/>
        </p:nvSpPr>
        <p:spPr>
          <a:xfrm>
            <a:off x="575222" y="2720554"/>
            <a:ext cx="11616778" cy="3767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aider à la mise en place de la méthode agile dans un projet informatique ?</a:t>
            </a:r>
          </a:p>
          <a:p>
            <a:pPr>
              <a:lnSpc>
                <a:spcPct val="150000"/>
              </a:lnSpc>
            </a:pPr>
            <a:r>
              <a:rPr lang="fr-FR" sz="3000" i="1" dirty="0">
                <a:solidFill>
                  <a:schemeClr val="tx2"/>
                </a:solidFill>
              </a:rPr>
              <a:t>Est-ce que </a:t>
            </a:r>
            <a:r>
              <a:rPr lang="fr-FR" sz="3000" i="1" dirty="0" err="1">
                <a:solidFill>
                  <a:schemeClr val="tx2"/>
                </a:solidFill>
              </a:rPr>
              <a:t>ChatGPT</a:t>
            </a:r>
            <a:r>
              <a:rPr lang="fr-FR" sz="3000" i="1" dirty="0">
                <a:solidFill>
                  <a:schemeClr val="tx2"/>
                </a:solidFill>
              </a:rPr>
              <a:t> peut être considéré comme un coach agile compétent ?</a:t>
            </a:r>
          </a:p>
          <a:p>
            <a:pPr>
              <a:lnSpc>
                <a:spcPct val="150000"/>
              </a:lnSpc>
            </a:pPr>
            <a:r>
              <a:rPr lang="fr-FR" sz="3000" i="1" dirty="0" err="1">
                <a:solidFill>
                  <a:schemeClr val="tx2"/>
                </a:solidFill>
              </a:rPr>
              <a:t>Sera-t’il</a:t>
            </a:r>
            <a:r>
              <a:rPr lang="fr-FR" sz="3000" i="1" dirty="0">
                <a:solidFill>
                  <a:schemeClr val="tx2"/>
                </a:solidFill>
              </a:rPr>
              <a:t> accepté par une équipe composée d’êtres humains ?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13B8D84-ADED-E67F-0261-665CC78E51B4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11254232" cy="1923176"/>
          </a:xfrm>
          <a:prstGeom prst="rect">
            <a:avLst/>
          </a:prstGeom>
          <a:solidFill>
            <a:srgbClr val="E7E5D9"/>
          </a:solidFill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25AD50CD-F115-D3C5-12D0-6B82FEFE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tx2"/>
                </a:solidFill>
              </a:rPr>
              <a:t>22</a:t>
            </a:fld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B3CBDAEA-14CA-B120-C63F-B181E7C1D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23" y="1974439"/>
            <a:ext cx="3953234" cy="526211"/>
          </a:xfrm>
        </p:spPr>
        <p:txBody>
          <a:bodyPr>
            <a:noAutofit/>
          </a:bodyPr>
          <a:lstStyle/>
          <a:p>
            <a:r>
              <a:rPr lang="fr-FR" sz="3000" b="1" u="sng" dirty="0">
                <a:solidFill>
                  <a:schemeClr val="tx2"/>
                </a:solidFill>
              </a:rPr>
              <a:t>Problématiques: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F52E1CF-5D66-54EC-CD28-B84DF71E4372}"/>
              </a:ext>
            </a:extLst>
          </p:cNvPr>
          <p:cNvGrpSpPr/>
          <p:nvPr/>
        </p:nvGrpSpPr>
        <p:grpSpPr>
          <a:xfrm>
            <a:off x="11642802" y="-12304328"/>
            <a:ext cx="1098395" cy="9706354"/>
            <a:chOff x="9474407" y="248433"/>
            <a:chExt cx="1098395" cy="9706354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780BA769-A9A4-3FF5-3C3C-4E353354CFDC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16" name="Groupe 15">
                <a:extLst>
                  <a:ext uri="{FF2B5EF4-FFF2-40B4-BE49-F238E27FC236}">
                    <a16:creationId xmlns:a16="http://schemas.microsoft.com/office/drawing/2014/main" id="{3456EF14-D814-6858-A94C-B5D59F27EA15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97993E15-68F8-0352-7498-291D20B1EA71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91AE6056-9841-28A8-2B8D-6933553E7EF1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EA0A77D0-19BE-56EB-95F8-5536ABA5B23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1468296A-2831-00A8-9C2E-3936AB188415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399B96CE-F9DE-234F-1C5D-8BE492CA36DB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42BCA7AD-2D72-045E-2518-681F38F26A4C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A739E097-8E8D-16DE-F5CC-C1095B5A05E2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34DF3585-2DFB-5917-F4A3-A3CAFC946E1A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EBB4A52D-D891-78C8-94DC-3DC3EA6DAD27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9855DF2D-FCF0-5065-8BCF-544E89A15A23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B85BA4D0-EBEF-EA8B-2B90-17F998393ABC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2CEF9E48-6089-5F11-D373-C67603227A7D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DD9770C1-1E16-D6FF-ADF3-822986D85651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4783661E-691C-1D06-B1B8-ABDB8D163B42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FC08E202-6DBF-BDAC-E602-E70CC95634B5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F40FF6E6-B151-C954-4EEE-6464428416E4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9DCBF326-F6AA-A5CB-99EF-E0762CA5C055}"/>
              </a:ext>
            </a:extLst>
          </p:cNvPr>
          <p:cNvGrpSpPr/>
          <p:nvPr/>
        </p:nvGrpSpPr>
        <p:grpSpPr>
          <a:xfrm>
            <a:off x="-549198" y="-12304328"/>
            <a:ext cx="1098395" cy="9706354"/>
            <a:chOff x="9474407" y="248433"/>
            <a:chExt cx="1098395" cy="9706354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99C0AD98-5D07-F1E2-CE77-2CFE5861AFA7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29BC9428-4F04-2368-AB1F-4E0292DF73D9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741E0DEF-1DF9-76AF-D8E9-C50BBE7CFDE0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9919E9AD-F31E-22DA-8A0E-85D8D529837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E8E737A8-D936-B1F3-1291-728F030DA97B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8" name="Groupe 37">
                <a:extLst>
                  <a:ext uri="{FF2B5EF4-FFF2-40B4-BE49-F238E27FC236}">
                    <a16:creationId xmlns:a16="http://schemas.microsoft.com/office/drawing/2014/main" id="{9F647DD2-1404-E4AE-D328-9E23E99B57FA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9" name="Ellipse 38">
                  <a:extLst>
                    <a:ext uri="{FF2B5EF4-FFF2-40B4-BE49-F238E27FC236}">
                      <a16:creationId xmlns:a16="http://schemas.microsoft.com/office/drawing/2014/main" id="{82938F7A-9CC5-889B-0B8E-318ACCE3A10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Ellipse 39">
                  <a:extLst>
                    <a:ext uri="{FF2B5EF4-FFF2-40B4-BE49-F238E27FC236}">
                      <a16:creationId xmlns:a16="http://schemas.microsoft.com/office/drawing/2014/main" id="{BD473EF2-83ED-D85D-955C-B6C1A4422A1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>
                  <a:extLst>
                    <a:ext uri="{FF2B5EF4-FFF2-40B4-BE49-F238E27FC236}">
                      <a16:creationId xmlns:a16="http://schemas.microsoft.com/office/drawing/2014/main" id="{A53CEB85-F11B-8BD5-5840-B6A10DA2E387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B241BDD8-B88F-A021-746B-66F4BA774D65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0A7812AC-C8A8-9103-99EC-C70F110B986B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id="{C07B8689-D25D-6C69-553E-B82F058A49BD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3CC825B9-F93B-3FBE-271D-B68D9AD0CD7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BA1C9C2A-8927-D318-8479-B115F23CFA2D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0" name="Groupe 29">
                <a:extLst>
                  <a:ext uri="{FF2B5EF4-FFF2-40B4-BE49-F238E27FC236}">
                    <a16:creationId xmlns:a16="http://schemas.microsoft.com/office/drawing/2014/main" id="{B2E7DA9C-8F03-7260-772E-94A812A930C1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1" name="Ellipse 30">
                  <a:extLst>
                    <a:ext uri="{FF2B5EF4-FFF2-40B4-BE49-F238E27FC236}">
                      <a16:creationId xmlns:a16="http://schemas.microsoft.com/office/drawing/2014/main" id="{38639616-6000-0ADF-C50C-BA810FF0600B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C6DB426F-EFE7-6308-C466-AB6E9F95018A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id="{D73D2863-AAD2-DE21-5841-0C32D0E21F48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83446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FB4F7-8394-A2E0-D88C-8AD5171E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298836-827F-90B2-2F3F-072973956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0F0233D7-8DB8-8595-32BA-3C31E315CF7E}"/>
              </a:ext>
            </a:extLst>
          </p:cNvPr>
          <p:cNvSpPr/>
          <p:nvPr/>
        </p:nvSpPr>
        <p:spPr>
          <a:xfrm>
            <a:off x="6119117" y="3988438"/>
            <a:ext cx="5400000" cy="540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4550B12F-FD05-CBDA-3368-42ECED55020F}"/>
              </a:ext>
            </a:extLst>
          </p:cNvPr>
          <p:cNvSpPr txBox="1">
            <a:spLocks/>
          </p:cNvSpPr>
          <p:nvPr/>
        </p:nvSpPr>
        <p:spPr>
          <a:xfrm>
            <a:off x="451813" y="263764"/>
            <a:ext cx="11254232" cy="1923176"/>
          </a:xfrm>
          <a:prstGeom prst="rect">
            <a:avLst/>
          </a:prstGeom>
          <a:solidFill>
            <a:srgbClr val="E7E5D9"/>
          </a:solidFill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600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BC2DB9B-64AE-A6B8-F900-D78CA8F08BBF}"/>
              </a:ext>
            </a:extLst>
          </p:cNvPr>
          <p:cNvSpPr/>
          <p:nvPr/>
        </p:nvSpPr>
        <p:spPr>
          <a:xfrm>
            <a:off x="3765548" y="5881116"/>
            <a:ext cx="1800000" cy="18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F91679-3281-8C42-355F-FE5CC097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z="1500" smtClean="0">
                <a:solidFill>
                  <a:schemeClr val="bg1">
                    <a:lumMod val="85000"/>
                  </a:schemeClr>
                </a:solidFill>
              </a:rPr>
              <a:t>23</a:t>
            </a:fld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B702BAD-0E65-C1B5-0FB5-ED5D86315175}"/>
              </a:ext>
            </a:extLst>
          </p:cNvPr>
          <p:cNvSpPr txBox="1"/>
          <p:nvPr/>
        </p:nvSpPr>
        <p:spPr>
          <a:xfrm>
            <a:off x="586596" y="3157268"/>
            <a:ext cx="2769079" cy="37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227BB62-464C-C5C9-C097-14AA5382BCBB}"/>
              </a:ext>
            </a:extLst>
          </p:cNvPr>
          <p:cNvSpPr txBox="1"/>
          <p:nvPr/>
        </p:nvSpPr>
        <p:spPr>
          <a:xfrm>
            <a:off x="3949230" y="2047989"/>
            <a:ext cx="558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Pourrais-tu me faire une conclusion sur cet article ?</a:t>
            </a:r>
          </a:p>
        </p:txBody>
      </p:sp>
      <p:pic>
        <p:nvPicPr>
          <p:cNvPr id="20" name="Image 19" descr="Une image contenant symbole, Graphique, cercle, Police&#10;&#10;Description générée automatiquement">
            <a:extLst>
              <a:ext uri="{FF2B5EF4-FFF2-40B4-BE49-F238E27FC236}">
                <a16:creationId xmlns:a16="http://schemas.microsoft.com/office/drawing/2014/main" id="{3599B700-3CE7-5C88-4689-6C8B673AB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560" y="2883001"/>
            <a:ext cx="424823" cy="42482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A8794DB-8E4E-B7DD-5E8F-28C7CC6E6D2C}"/>
              </a:ext>
            </a:extLst>
          </p:cNvPr>
          <p:cNvSpPr/>
          <p:nvPr/>
        </p:nvSpPr>
        <p:spPr>
          <a:xfrm>
            <a:off x="3355675" y="2025881"/>
            <a:ext cx="424823" cy="4248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</a:p>
        </p:txBody>
      </p:sp>
      <p:pic>
        <p:nvPicPr>
          <p:cNvPr id="26" name="Image 2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A1220E68-6EB1-5BA9-BB7D-A2916F23C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48" y="2739023"/>
            <a:ext cx="1267160" cy="712778"/>
          </a:xfrm>
          <a:prstGeom prst="rect">
            <a:avLst/>
          </a:prstGeom>
        </p:spPr>
      </p:pic>
      <p:sp>
        <p:nvSpPr>
          <p:cNvPr id="51" name="Ellipse 50">
            <a:extLst>
              <a:ext uri="{FF2B5EF4-FFF2-40B4-BE49-F238E27FC236}">
                <a16:creationId xmlns:a16="http://schemas.microsoft.com/office/drawing/2014/main" id="{48E78B9C-731A-D936-653D-CAC11B6E73D0}"/>
              </a:ext>
            </a:extLst>
          </p:cNvPr>
          <p:cNvSpPr/>
          <p:nvPr/>
        </p:nvSpPr>
        <p:spPr>
          <a:xfrm>
            <a:off x="1080000" y="-645010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E3BE9C38-17D5-2C28-D633-2CD8DA0F09FC}"/>
              </a:ext>
            </a:extLst>
          </p:cNvPr>
          <p:cNvGrpSpPr/>
          <p:nvPr/>
        </p:nvGrpSpPr>
        <p:grpSpPr>
          <a:xfrm>
            <a:off x="3949230" y="2882998"/>
            <a:ext cx="5582093" cy="365667"/>
            <a:chOff x="3949230" y="2883001"/>
            <a:chExt cx="5582093" cy="36933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CA44CC6-1B1C-38D0-ABA5-DDB860650B4F}"/>
                </a:ext>
              </a:extLst>
            </p:cNvPr>
            <p:cNvSpPr/>
            <p:nvPr/>
          </p:nvSpPr>
          <p:spPr>
            <a:xfrm>
              <a:off x="3949230" y="2883002"/>
              <a:ext cx="5582093" cy="369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33E63AF-EC1B-24D4-260F-70DD8DEDF6C1}"/>
                </a:ext>
              </a:extLst>
            </p:cNvPr>
            <p:cNvSpPr txBox="1"/>
            <p:nvPr/>
          </p:nvSpPr>
          <p:spPr>
            <a:xfrm>
              <a:off x="3949230" y="2883001"/>
              <a:ext cx="558209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Merci de votre attention !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33DC185B-2FD1-1178-7026-E1F08A2049CE}"/>
              </a:ext>
            </a:extLst>
          </p:cNvPr>
          <p:cNvGrpSpPr/>
          <p:nvPr/>
        </p:nvGrpSpPr>
        <p:grpSpPr>
          <a:xfrm>
            <a:off x="11624419" y="-1316347"/>
            <a:ext cx="1098395" cy="9706354"/>
            <a:chOff x="9474407" y="248433"/>
            <a:chExt cx="1098395" cy="9706354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40DA21DE-85BB-9B88-C396-4EFD2236C346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83D4A93D-3C90-E306-3483-EF5A3F093671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F34C1F37-20EA-F215-736C-9ADDC9F849A3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2B8C4F05-F572-BCD7-D936-7D66D897F9F5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DC5C26A2-389C-5B07-330C-53FA85AB8AC1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070B30B8-482C-A9D0-0641-82C7FA3D1832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3A774D34-4359-B133-7684-6C95430323F1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F4014028-8BDD-84FC-E7CD-5E4B3592619D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98298FE8-9796-8F73-144B-4355642F709C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F21F7EF4-6446-B5AA-200F-4A3E56A1FEFD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BEC32ADF-9841-73AB-A126-9F5185CCCFDE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9DEA73D1-2859-B695-B5BD-8DF6262C0A14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7581DB0A-3800-7ABC-791E-23FA48B041C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6B81BCD0-BA54-1F8A-6C1E-E7C95C0AF86E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" name="Groupe 6">
                <a:extLst>
                  <a:ext uri="{FF2B5EF4-FFF2-40B4-BE49-F238E27FC236}">
                    <a16:creationId xmlns:a16="http://schemas.microsoft.com/office/drawing/2014/main" id="{D275AEAD-71E4-F2AD-5B3D-A8A0A9BCCBEA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09696F05-EF8A-B94F-33A0-3726CA6B8C85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53B55867-1829-EDD7-695A-B18C90361F14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C815767E-55EF-8F11-00AA-5B756EEEAAC4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7E5AC28E-9C79-748B-D293-923E641DFFD4}"/>
              </a:ext>
            </a:extLst>
          </p:cNvPr>
          <p:cNvGrpSpPr/>
          <p:nvPr/>
        </p:nvGrpSpPr>
        <p:grpSpPr>
          <a:xfrm>
            <a:off x="-451813" y="-1316347"/>
            <a:ext cx="1098395" cy="9706354"/>
            <a:chOff x="9474407" y="248433"/>
            <a:chExt cx="1098395" cy="9706354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6EF8C9A3-5A61-4F4A-905C-579DBD5EE641}"/>
                </a:ext>
              </a:extLst>
            </p:cNvPr>
            <p:cNvGrpSpPr/>
            <p:nvPr/>
          </p:nvGrpSpPr>
          <p:grpSpPr>
            <a:xfrm>
              <a:off x="9474407" y="248433"/>
              <a:ext cx="1098395" cy="4997160"/>
              <a:chOff x="9474407" y="248433"/>
              <a:chExt cx="1098395" cy="4997160"/>
            </a:xfrm>
          </p:grpSpPr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AC2F7784-99B2-04B4-1535-0168AA247E91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8" name="Ellipse 47">
                  <a:extLst>
                    <a:ext uri="{FF2B5EF4-FFF2-40B4-BE49-F238E27FC236}">
                      <a16:creationId xmlns:a16="http://schemas.microsoft.com/office/drawing/2014/main" id="{6EA4291A-C84B-6502-5FCA-F62D25694654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9" name="Ellipse 48">
                  <a:extLst>
                    <a:ext uri="{FF2B5EF4-FFF2-40B4-BE49-F238E27FC236}">
                      <a16:creationId xmlns:a16="http://schemas.microsoft.com/office/drawing/2014/main" id="{4BA7D783-72F0-5D86-AE73-015ABDBA4C53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0" name="Ellipse 49">
                  <a:extLst>
                    <a:ext uri="{FF2B5EF4-FFF2-40B4-BE49-F238E27FC236}">
                      <a16:creationId xmlns:a16="http://schemas.microsoft.com/office/drawing/2014/main" id="{8E67C69F-AB2B-FB64-8C86-12D352299EAE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44" name="Groupe 43">
                <a:extLst>
                  <a:ext uri="{FF2B5EF4-FFF2-40B4-BE49-F238E27FC236}">
                    <a16:creationId xmlns:a16="http://schemas.microsoft.com/office/drawing/2014/main" id="{B1CC196C-8BE7-53F8-5E82-010A954E8EFA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EB377C1C-2064-92C1-2483-D147E4C87B96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F2C86FB1-480E-730F-1F5A-F8AACD9F76DE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7" name="Ellipse 46">
                  <a:extLst>
                    <a:ext uri="{FF2B5EF4-FFF2-40B4-BE49-F238E27FC236}">
                      <a16:creationId xmlns:a16="http://schemas.microsoft.com/office/drawing/2014/main" id="{D2EB8AB1-8879-F6DC-DF2B-6BA4446EA685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D1E02664-CBCF-C013-8F32-9AA0383D8A82}"/>
                </a:ext>
              </a:extLst>
            </p:cNvPr>
            <p:cNvGrpSpPr/>
            <p:nvPr/>
          </p:nvGrpSpPr>
          <p:grpSpPr>
            <a:xfrm>
              <a:off x="9474407" y="4957627"/>
              <a:ext cx="1098395" cy="4997160"/>
              <a:chOff x="9474407" y="248433"/>
              <a:chExt cx="1098395" cy="4997160"/>
            </a:xfrm>
          </p:grpSpPr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BD3B0962-7506-64C7-A8E6-5992EF6A8298}"/>
                  </a:ext>
                </a:extLst>
              </p:cNvPr>
              <p:cNvGrpSpPr/>
              <p:nvPr/>
            </p:nvGrpSpPr>
            <p:grpSpPr>
              <a:xfrm>
                <a:off x="9492802" y="248433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40" name="Ellipse 39">
                  <a:extLst>
                    <a:ext uri="{FF2B5EF4-FFF2-40B4-BE49-F238E27FC236}">
                      <a16:creationId xmlns:a16="http://schemas.microsoft.com/office/drawing/2014/main" id="{D4B47719-F249-CF19-EE02-D4DCEA3AA897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>
                  <a:extLst>
                    <a:ext uri="{FF2B5EF4-FFF2-40B4-BE49-F238E27FC236}">
                      <a16:creationId xmlns:a16="http://schemas.microsoft.com/office/drawing/2014/main" id="{8B8CA3F4-7E82-04A4-7F17-E5D43A30A542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D15B992D-2B54-4B6F-C9DA-B27D083A00B1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6" name="Groupe 35">
                <a:extLst>
                  <a:ext uri="{FF2B5EF4-FFF2-40B4-BE49-F238E27FC236}">
                    <a16:creationId xmlns:a16="http://schemas.microsoft.com/office/drawing/2014/main" id="{911F9D7F-1447-704C-C055-F6D630859F75}"/>
                  </a:ext>
                </a:extLst>
              </p:cNvPr>
              <p:cNvGrpSpPr/>
              <p:nvPr/>
            </p:nvGrpSpPr>
            <p:grpSpPr>
              <a:xfrm>
                <a:off x="9474407" y="2603030"/>
                <a:ext cx="1080000" cy="2642563"/>
                <a:chOff x="9492802" y="248433"/>
                <a:chExt cx="1080000" cy="2642563"/>
              </a:xfrm>
            </p:grpSpPr>
            <p:sp>
              <p:nvSpPr>
                <p:cNvPr id="37" name="Ellipse 36">
                  <a:extLst>
                    <a:ext uri="{FF2B5EF4-FFF2-40B4-BE49-F238E27FC236}">
                      <a16:creationId xmlns:a16="http://schemas.microsoft.com/office/drawing/2014/main" id="{F14EC99F-F723-E425-DF2B-106FD8F370B0}"/>
                    </a:ext>
                  </a:extLst>
                </p:cNvPr>
                <p:cNvSpPr/>
                <p:nvPr/>
              </p:nvSpPr>
              <p:spPr>
                <a:xfrm>
                  <a:off x="9492802" y="248433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Ellipse 37">
                  <a:extLst>
                    <a:ext uri="{FF2B5EF4-FFF2-40B4-BE49-F238E27FC236}">
                      <a16:creationId xmlns:a16="http://schemas.microsoft.com/office/drawing/2014/main" id="{E57DF372-0102-3E33-A46D-F7692C8A25BF}"/>
                    </a:ext>
                  </a:extLst>
                </p:cNvPr>
                <p:cNvSpPr/>
                <p:nvPr/>
              </p:nvSpPr>
              <p:spPr>
                <a:xfrm>
                  <a:off x="9492802" y="1011477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Ellipse 38">
                  <a:extLst>
                    <a:ext uri="{FF2B5EF4-FFF2-40B4-BE49-F238E27FC236}">
                      <a16:creationId xmlns:a16="http://schemas.microsoft.com/office/drawing/2014/main" id="{5FECC376-A92E-8C37-EDBF-A7BF7A93500E}"/>
                    </a:ext>
                  </a:extLst>
                </p:cNvPr>
                <p:cNvSpPr/>
                <p:nvPr/>
              </p:nvSpPr>
              <p:spPr>
                <a:xfrm>
                  <a:off x="9492802" y="1810996"/>
                  <a:ext cx="1080000" cy="1080000"/>
                </a:xfrm>
                <a:prstGeom prst="ellipse">
                  <a:avLst/>
                </a:prstGeom>
                <a:noFill/>
                <a:ln w="76200">
                  <a:solidFill>
                    <a:srgbClr val="C00000"/>
                  </a:solidFill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sp>
        <p:nvSpPr>
          <p:cNvPr id="52" name="Ellipse 51">
            <a:extLst>
              <a:ext uri="{FF2B5EF4-FFF2-40B4-BE49-F238E27FC236}">
                <a16:creationId xmlns:a16="http://schemas.microsoft.com/office/drawing/2014/main" id="{98016715-F1E0-07D4-27D9-D27B956A70C9}"/>
              </a:ext>
            </a:extLst>
          </p:cNvPr>
          <p:cNvSpPr/>
          <p:nvPr/>
        </p:nvSpPr>
        <p:spPr>
          <a:xfrm>
            <a:off x="2279642" y="-1277706"/>
            <a:ext cx="1800000" cy="180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2ADA844A-688D-D378-7DE2-8604EFBFD243}"/>
              </a:ext>
            </a:extLst>
          </p:cNvPr>
          <p:cNvSpPr/>
          <p:nvPr/>
        </p:nvSpPr>
        <p:spPr>
          <a:xfrm>
            <a:off x="5043511" y="4673941"/>
            <a:ext cx="2880000" cy="28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2D092691-BA1B-898C-50A4-85D931A72AC8}"/>
              </a:ext>
            </a:extLst>
          </p:cNvPr>
          <p:cNvSpPr/>
          <p:nvPr/>
        </p:nvSpPr>
        <p:spPr>
          <a:xfrm>
            <a:off x="1019642" y="4983010"/>
            <a:ext cx="2520000" cy="252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028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</TotalTime>
  <Words>564</Words>
  <Application>Microsoft Office PowerPoint</Application>
  <PresentationFormat>Grand écran</PresentationFormat>
  <Paragraphs>149</Paragraphs>
  <Slides>23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0" baseType="lpstr">
      <vt:lpstr>Aharoni</vt:lpstr>
      <vt:lpstr>Aptos</vt:lpstr>
      <vt:lpstr>Arial</vt:lpstr>
      <vt:lpstr>Arial Unicode MS</vt:lpstr>
      <vt:lpstr>Avenir Next LT Pro</vt:lpstr>
      <vt:lpstr>Avenir Next LT Pro Demi</vt:lpstr>
      <vt:lpstr>FadeVTI</vt:lpstr>
      <vt:lpstr>Résumé</vt:lpstr>
      <vt:lpstr>Résumé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Léo Quenette</dc:creator>
  <cp:lastModifiedBy>Leo Quenette</cp:lastModifiedBy>
  <cp:revision>14</cp:revision>
  <dcterms:created xsi:type="dcterms:W3CDTF">2025-02-02T22:47:03Z</dcterms:created>
  <dcterms:modified xsi:type="dcterms:W3CDTF">2025-03-25T07:35:25Z</dcterms:modified>
</cp:coreProperties>
</file>